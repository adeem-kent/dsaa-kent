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85" r:id="rId3"/>
    <p:sldId id="294" r:id="rId4"/>
    <p:sldId id="283" r:id="rId5"/>
    <p:sldId id="284" r:id="rId6"/>
    <p:sldId id="286" r:id="rId7"/>
    <p:sldId id="288" r:id="rId8"/>
    <p:sldId id="292" r:id="rId9"/>
    <p:sldId id="293" r:id="rId10"/>
    <p:sldId id="296" r:id="rId11"/>
    <p:sldId id="295" r:id="rId12"/>
    <p:sldId id="282" r:id="rId1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EEF"/>
          </a:solidFill>
        </a:fill>
      </a:tcStyle>
    </a:wholeTbl>
    <a:band2H>
      <a:tcTxStyle/>
      <a:tcStyle>
        <a:tcBdr/>
        <a:fill>
          <a:solidFill>
            <a:srgbClr val="E9EFF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33" autoAdjust="0"/>
    <p:restoredTop sz="94694"/>
  </p:normalViewPr>
  <p:slideViewPr>
    <p:cSldViewPr snapToGrid="0">
      <p:cViewPr varScale="1">
        <p:scale>
          <a:sx n="121" d="100"/>
          <a:sy n="121" d="100"/>
        </p:scale>
        <p:origin x="560" y="176"/>
      </p:cViewPr>
      <p:guideLst/>
    </p:cSldViewPr>
  </p:slideViewPr>
  <p:notesTextViewPr>
    <p:cViewPr>
      <p:scale>
        <a:sx n="1" d="1"/>
        <a:sy n="1" d="1"/>
      </p:scale>
      <p:origin x="0" y="0"/>
    </p:cViewPr>
  </p:notesTextViewPr>
  <p:sorterViewPr>
    <p:cViewPr>
      <p:scale>
        <a:sx n="100" d="100"/>
        <a:sy n="100" d="100"/>
      </p:scale>
      <p:origin x="0" y="-2116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0" name="Shape 120"/>
          <p:cNvSpPr>
            <a:spLocks noGrp="1" noRot="1" noChangeAspect="1"/>
          </p:cNvSpPr>
          <p:nvPr>
            <p:ph type="sldImg"/>
          </p:nvPr>
        </p:nvSpPr>
        <p:spPr>
          <a:xfrm>
            <a:off x="1143000" y="685800"/>
            <a:ext cx="4572000" cy="3429000"/>
          </a:xfrm>
          <a:prstGeom prst="rect">
            <a:avLst/>
          </a:prstGeom>
        </p:spPr>
        <p:txBody>
          <a:bodyPr/>
          <a:lstStyle/>
          <a:p>
            <a:endParaRPr/>
          </a:p>
        </p:txBody>
      </p:sp>
      <p:sp>
        <p:nvSpPr>
          <p:cNvPr id="121" name="Shape 12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12"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grpSp>
        <p:nvGrpSpPr>
          <p:cNvPr id="5" name="Group 4"/>
          <p:cNvGrpSpPr/>
          <p:nvPr userDrawn="1"/>
        </p:nvGrpSpPr>
        <p:grpSpPr>
          <a:xfrm>
            <a:off x="0" y="1"/>
            <a:ext cx="12192000" cy="357129"/>
            <a:chOff x="0" y="0"/>
            <a:chExt cx="12191999" cy="357127"/>
          </a:xfrm>
        </p:grpSpPr>
        <p:sp>
          <p:nvSpPr>
            <p:cNvPr id="6" name="Freeform 12"/>
            <p:cNvSpPr/>
            <p:nvPr/>
          </p:nvSpPr>
          <p:spPr>
            <a:xfrm>
              <a:off x="9143487" y="0"/>
              <a:ext cx="3048513" cy="357129"/>
            </a:xfrm>
            <a:prstGeom prst="rect">
              <a:avLst/>
            </a:prstGeom>
            <a:solidFill>
              <a:srgbClr val="AB2E91"/>
            </a:solidFill>
            <a:ln w="12700" cap="flat">
              <a:noFill/>
              <a:miter lim="400000"/>
            </a:ln>
            <a:effectLst/>
          </p:spPr>
          <p:txBody>
            <a:bodyPr wrap="square" lIns="45719" tIns="45719" rIns="45719" bIns="45719" numCol="1" anchor="t">
              <a:noAutofit/>
            </a:bodyPr>
            <a:lstStyle/>
            <a:p>
              <a:endParaRPr/>
            </a:p>
          </p:txBody>
        </p:sp>
        <p:sp>
          <p:nvSpPr>
            <p:cNvPr id="7" name="Freeform 11"/>
            <p:cNvSpPr/>
            <p:nvPr/>
          </p:nvSpPr>
          <p:spPr>
            <a:xfrm>
              <a:off x="6096000" y="0"/>
              <a:ext cx="3047489" cy="357129"/>
            </a:xfrm>
            <a:prstGeom prst="rect">
              <a:avLst/>
            </a:prstGeom>
            <a:solidFill>
              <a:srgbClr val="008FCD"/>
            </a:solidFill>
            <a:ln w="12700" cap="flat">
              <a:noFill/>
              <a:miter lim="400000"/>
            </a:ln>
            <a:effectLst/>
          </p:spPr>
          <p:txBody>
            <a:bodyPr wrap="square" lIns="45719" tIns="45719" rIns="45719" bIns="45719" numCol="1" anchor="t">
              <a:noAutofit/>
            </a:bodyPr>
            <a:lstStyle/>
            <a:p>
              <a:endParaRPr/>
            </a:p>
          </p:txBody>
        </p:sp>
        <p:sp>
          <p:nvSpPr>
            <p:cNvPr id="8" name="Freeform 10"/>
            <p:cNvSpPr/>
            <p:nvPr/>
          </p:nvSpPr>
          <p:spPr>
            <a:xfrm>
              <a:off x="3047488" y="0"/>
              <a:ext cx="3048512" cy="357129"/>
            </a:xfrm>
            <a:prstGeom prst="rect">
              <a:avLst/>
            </a:prstGeom>
            <a:solidFill>
              <a:srgbClr val="1E7B47"/>
            </a:solidFill>
            <a:ln w="12700" cap="flat">
              <a:noFill/>
              <a:miter lim="400000"/>
            </a:ln>
            <a:effectLst/>
          </p:spPr>
          <p:txBody>
            <a:bodyPr wrap="square" lIns="45719" tIns="45719" rIns="45719" bIns="45719" numCol="1" anchor="t">
              <a:noAutofit/>
            </a:bodyPr>
            <a:lstStyle/>
            <a:p>
              <a:endParaRPr/>
            </a:p>
          </p:txBody>
        </p:sp>
        <p:sp>
          <p:nvSpPr>
            <p:cNvPr id="9" name="Freeform 9"/>
            <p:cNvSpPr/>
            <p:nvPr/>
          </p:nvSpPr>
          <p:spPr>
            <a:xfrm>
              <a:off x="0" y="0"/>
              <a:ext cx="3047489" cy="357129"/>
            </a:xfrm>
            <a:prstGeom prst="rect">
              <a:avLst/>
            </a:prstGeom>
            <a:solidFill>
              <a:srgbClr val="F0532C"/>
            </a:solidFill>
            <a:ln w="12700" cap="flat">
              <a:noFill/>
              <a:miter lim="400000"/>
            </a:ln>
            <a:effectLst/>
          </p:spPr>
          <p:txBody>
            <a:bodyPr wrap="square" lIns="45719" tIns="45719" rIns="45719" bIns="45719" numCol="1" anchor="t">
              <a:noAutofit/>
            </a:bodyPr>
            <a:lstStyle/>
            <a:p>
              <a:endParaRPr/>
            </a:p>
          </p:txBody>
        </p:sp>
      </p:gr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30"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grpSp>
        <p:nvGrpSpPr>
          <p:cNvPr id="5" name="Group 4"/>
          <p:cNvGrpSpPr/>
          <p:nvPr userDrawn="1"/>
        </p:nvGrpSpPr>
        <p:grpSpPr>
          <a:xfrm>
            <a:off x="0" y="1"/>
            <a:ext cx="12192000" cy="357129"/>
            <a:chOff x="0" y="0"/>
            <a:chExt cx="12191999" cy="357127"/>
          </a:xfrm>
        </p:grpSpPr>
        <p:sp>
          <p:nvSpPr>
            <p:cNvPr id="6" name="Freeform 12"/>
            <p:cNvSpPr/>
            <p:nvPr/>
          </p:nvSpPr>
          <p:spPr>
            <a:xfrm>
              <a:off x="9143487" y="0"/>
              <a:ext cx="3048513" cy="357129"/>
            </a:xfrm>
            <a:prstGeom prst="rect">
              <a:avLst/>
            </a:prstGeom>
            <a:solidFill>
              <a:srgbClr val="AB2E91"/>
            </a:solidFill>
            <a:ln w="12700" cap="flat">
              <a:noFill/>
              <a:miter lim="400000"/>
            </a:ln>
            <a:effectLst/>
          </p:spPr>
          <p:txBody>
            <a:bodyPr wrap="square" lIns="45719" tIns="45719" rIns="45719" bIns="45719" numCol="1" anchor="t">
              <a:noAutofit/>
            </a:bodyPr>
            <a:lstStyle/>
            <a:p>
              <a:endParaRPr/>
            </a:p>
          </p:txBody>
        </p:sp>
        <p:sp>
          <p:nvSpPr>
            <p:cNvPr id="7" name="Freeform 11"/>
            <p:cNvSpPr/>
            <p:nvPr/>
          </p:nvSpPr>
          <p:spPr>
            <a:xfrm>
              <a:off x="6096000" y="0"/>
              <a:ext cx="3047489" cy="357129"/>
            </a:xfrm>
            <a:prstGeom prst="rect">
              <a:avLst/>
            </a:prstGeom>
            <a:solidFill>
              <a:srgbClr val="008FCD"/>
            </a:solidFill>
            <a:ln w="12700" cap="flat">
              <a:noFill/>
              <a:miter lim="400000"/>
            </a:ln>
            <a:effectLst/>
          </p:spPr>
          <p:txBody>
            <a:bodyPr wrap="square" lIns="45719" tIns="45719" rIns="45719" bIns="45719" numCol="1" anchor="t">
              <a:noAutofit/>
            </a:bodyPr>
            <a:lstStyle/>
            <a:p>
              <a:endParaRPr/>
            </a:p>
          </p:txBody>
        </p:sp>
        <p:sp>
          <p:nvSpPr>
            <p:cNvPr id="8" name="Freeform 10"/>
            <p:cNvSpPr/>
            <p:nvPr/>
          </p:nvSpPr>
          <p:spPr>
            <a:xfrm>
              <a:off x="3047488" y="0"/>
              <a:ext cx="3048512" cy="357129"/>
            </a:xfrm>
            <a:prstGeom prst="rect">
              <a:avLst/>
            </a:prstGeom>
            <a:solidFill>
              <a:srgbClr val="1E7B47"/>
            </a:solidFill>
            <a:ln w="12700" cap="flat">
              <a:noFill/>
              <a:miter lim="400000"/>
            </a:ln>
            <a:effectLst/>
          </p:spPr>
          <p:txBody>
            <a:bodyPr wrap="square" lIns="45719" tIns="45719" rIns="45719" bIns="45719" numCol="1" anchor="t">
              <a:noAutofit/>
            </a:bodyPr>
            <a:lstStyle/>
            <a:p>
              <a:endParaRPr/>
            </a:p>
          </p:txBody>
        </p:sp>
        <p:sp>
          <p:nvSpPr>
            <p:cNvPr id="9" name="Freeform 9"/>
            <p:cNvSpPr/>
            <p:nvPr/>
          </p:nvSpPr>
          <p:spPr>
            <a:xfrm>
              <a:off x="0" y="0"/>
              <a:ext cx="3047489" cy="357129"/>
            </a:xfrm>
            <a:prstGeom prst="rect">
              <a:avLst/>
            </a:prstGeom>
            <a:solidFill>
              <a:srgbClr val="F0532C"/>
            </a:solidFill>
            <a:ln w="12700" cap="flat">
              <a:noFill/>
              <a:miter lim="400000"/>
            </a:ln>
            <a:effectLst/>
          </p:spPr>
          <p:txBody>
            <a:bodyPr wrap="square" lIns="45719" tIns="45719" rIns="45719" bIns="45719" numCol="1" anchor="t">
              <a:noAutofit/>
            </a:bodyPr>
            <a:lstStyle/>
            <a:p>
              <a:endParaRPr/>
            </a:p>
          </p:txBody>
        </p:sp>
      </p:gr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omparison">
    <p:spTree>
      <p:nvGrpSpPr>
        <p:cNvPr id="1" name=""/>
        <p:cNvGrpSpPr/>
        <p:nvPr/>
      </p:nvGrpSpPr>
      <p:grpSpPr>
        <a:xfrm>
          <a:off x="0" y="0"/>
          <a:ext cx="0" cy="0"/>
          <a:chOff x="0" y="0"/>
          <a:chExt cx="0" cy="0"/>
        </a:xfrm>
      </p:grpSpPr>
      <p:sp>
        <p:nvSpPr>
          <p:cNvPr id="48" name="Title Text"/>
          <p:cNvSpPr txBox="1">
            <a:spLocks noGrp="1"/>
          </p:cNvSpPr>
          <p:nvPr>
            <p:ph type="title"/>
          </p:nvPr>
        </p:nvSpPr>
        <p:spPr>
          <a:xfrm>
            <a:off x="839787" y="365125"/>
            <a:ext cx="10515601" cy="1325563"/>
          </a:xfrm>
          <a:prstGeom prst="rect">
            <a:avLst/>
          </a:prstGeom>
        </p:spPr>
        <p:txBody>
          <a:bodyPr/>
          <a:lstStyle/>
          <a:p>
            <a:r>
              <a:rPr dirty="0"/>
              <a:t>Title Text</a:t>
            </a: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a:p>
        </p:txBody>
      </p:sp>
      <p:grpSp>
        <p:nvGrpSpPr>
          <p:cNvPr id="6" name="Group 4"/>
          <p:cNvGrpSpPr/>
          <p:nvPr userDrawn="1"/>
        </p:nvGrpSpPr>
        <p:grpSpPr>
          <a:xfrm>
            <a:off x="0" y="1"/>
            <a:ext cx="12192000" cy="357129"/>
            <a:chOff x="0" y="0"/>
            <a:chExt cx="12191999" cy="357127"/>
          </a:xfrm>
        </p:grpSpPr>
        <p:sp>
          <p:nvSpPr>
            <p:cNvPr id="7" name="Freeform 12"/>
            <p:cNvSpPr/>
            <p:nvPr/>
          </p:nvSpPr>
          <p:spPr>
            <a:xfrm>
              <a:off x="9143487" y="0"/>
              <a:ext cx="3048513" cy="357129"/>
            </a:xfrm>
            <a:prstGeom prst="rect">
              <a:avLst/>
            </a:prstGeom>
            <a:solidFill>
              <a:srgbClr val="AB2E91"/>
            </a:solidFill>
            <a:ln w="12700" cap="flat">
              <a:noFill/>
              <a:miter lim="400000"/>
            </a:ln>
            <a:effectLst/>
          </p:spPr>
          <p:txBody>
            <a:bodyPr wrap="square" lIns="45719" tIns="45719" rIns="45719" bIns="45719" numCol="1" anchor="t">
              <a:noAutofit/>
            </a:bodyPr>
            <a:lstStyle/>
            <a:p>
              <a:endParaRPr/>
            </a:p>
          </p:txBody>
        </p:sp>
        <p:sp>
          <p:nvSpPr>
            <p:cNvPr id="8" name="Freeform 11"/>
            <p:cNvSpPr/>
            <p:nvPr/>
          </p:nvSpPr>
          <p:spPr>
            <a:xfrm>
              <a:off x="6096000" y="0"/>
              <a:ext cx="3047489" cy="357129"/>
            </a:xfrm>
            <a:prstGeom prst="rect">
              <a:avLst/>
            </a:prstGeom>
            <a:solidFill>
              <a:srgbClr val="008FCD"/>
            </a:solidFill>
            <a:ln w="12700" cap="flat">
              <a:noFill/>
              <a:miter lim="400000"/>
            </a:ln>
            <a:effectLst/>
          </p:spPr>
          <p:txBody>
            <a:bodyPr wrap="square" lIns="45719" tIns="45719" rIns="45719" bIns="45719" numCol="1" anchor="t">
              <a:noAutofit/>
            </a:bodyPr>
            <a:lstStyle/>
            <a:p>
              <a:endParaRPr/>
            </a:p>
          </p:txBody>
        </p:sp>
        <p:sp>
          <p:nvSpPr>
            <p:cNvPr id="9" name="Freeform 10"/>
            <p:cNvSpPr/>
            <p:nvPr/>
          </p:nvSpPr>
          <p:spPr>
            <a:xfrm>
              <a:off x="3047488" y="0"/>
              <a:ext cx="3048512" cy="357129"/>
            </a:xfrm>
            <a:prstGeom prst="rect">
              <a:avLst/>
            </a:prstGeom>
            <a:solidFill>
              <a:srgbClr val="1E7B47"/>
            </a:solidFill>
            <a:ln w="12700" cap="flat">
              <a:noFill/>
              <a:miter lim="400000"/>
            </a:ln>
            <a:effectLst/>
          </p:spPr>
          <p:txBody>
            <a:bodyPr wrap="square" lIns="45719" tIns="45719" rIns="45719" bIns="45719" numCol="1" anchor="t">
              <a:noAutofit/>
            </a:bodyPr>
            <a:lstStyle/>
            <a:p>
              <a:endParaRPr/>
            </a:p>
          </p:txBody>
        </p:sp>
        <p:sp>
          <p:nvSpPr>
            <p:cNvPr id="10" name="Freeform 9"/>
            <p:cNvSpPr/>
            <p:nvPr/>
          </p:nvSpPr>
          <p:spPr>
            <a:xfrm>
              <a:off x="0" y="0"/>
              <a:ext cx="3047489" cy="357129"/>
            </a:xfrm>
            <a:prstGeom prst="rect">
              <a:avLst/>
            </a:prstGeom>
            <a:solidFill>
              <a:srgbClr val="F0532C"/>
            </a:solidFill>
            <a:ln w="12700" cap="flat">
              <a:noFill/>
              <a:miter lim="400000"/>
            </a:ln>
            <a:effectLst/>
          </p:spPr>
          <p:txBody>
            <a:bodyPr wrap="square" lIns="45719" tIns="45719" rIns="45719" bIns="45719" numCol="1" anchor="t">
              <a:noAutofit/>
            </a:bodyPr>
            <a:lstStyle/>
            <a:p>
              <a:endParaRPr/>
            </a:p>
          </p:txBody>
        </p:sp>
      </p:gr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8" name="Title Text"/>
          <p:cNvSpPr txBox="1">
            <a:spLocks noGrp="1"/>
          </p:cNvSpPr>
          <p:nvPr>
            <p:ph type="title"/>
          </p:nvPr>
        </p:nvSpPr>
        <p:spPr>
          <a:prstGeom prst="rect">
            <a:avLst/>
          </a:prstGeom>
        </p:spPr>
        <p:txBody>
          <a:bodyPr/>
          <a:lstStyle/>
          <a:p>
            <a:r>
              <a:t>Title Text</a:t>
            </a:r>
          </a:p>
        </p:txBody>
      </p:sp>
      <p:sp>
        <p:nvSpPr>
          <p:cNvPr id="5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3"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74" name="Body Level One…"/>
          <p:cNvSpPr txBox="1">
            <a:spLocks noGrp="1"/>
          </p:cNvSpPr>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75" name="Text Placeholder 3"/>
          <p:cNvSpPr>
            <a:spLocks noGrp="1"/>
          </p:cNvSpPr>
          <p:nvPr>
            <p:ph type="body" sz="quarter" idx="13"/>
          </p:nvPr>
        </p:nvSpPr>
        <p:spPr>
          <a:xfrm>
            <a:off x="839787" y="2057400"/>
            <a:ext cx="3932238" cy="3811588"/>
          </a:xfrm>
          <a:prstGeom prst="rect">
            <a:avLst/>
          </a:prstGeom>
        </p:spPr>
        <p:txBody>
          <a:bodyPr/>
          <a:lstStyle/>
          <a:p>
            <a:pPr marL="0" indent="0">
              <a:buSzTx/>
              <a:buFontTx/>
              <a:buNone/>
              <a:defRPr sz="1600"/>
            </a:pPr>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3"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84" name="Picture Placeholder 2"/>
          <p:cNvSpPr>
            <a:spLocks noGrp="1"/>
          </p:cNvSpPr>
          <p:nvPr>
            <p:ph type="pic" sz="half" idx="13"/>
          </p:nvPr>
        </p:nvSpPr>
        <p:spPr>
          <a:xfrm>
            <a:off x="5183187" y="987425"/>
            <a:ext cx="6172201" cy="4873625"/>
          </a:xfrm>
          <a:prstGeom prst="rect">
            <a:avLst/>
          </a:prstGeom>
        </p:spPr>
        <p:txBody>
          <a:bodyPr lIns="91439" rIns="91439">
            <a:noAutofit/>
          </a:bodyPr>
          <a:lstStyle/>
          <a:p>
            <a:endParaRPr/>
          </a:p>
        </p:txBody>
      </p:sp>
      <p:sp>
        <p:nvSpPr>
          <p:cNvPr id="85"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365125"/>
            <a:ext cx="10515600"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0" y="1825625"/>
            <a:ext cx="10515600" cy="4351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095176" y="6404292"/>
            <a:ext cx="258624" cy="269241"/>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3" r:id="rId3"/>
    <p:sldLayoutId id="2147483654" r:id="rId4"/>
    <p:sldLayoutId id="2147483655" r:id="rId5"/>
    <p:sldLayoutId id="2147483656" r:id="rId6"/>
    <p:sldLayoutId id="2147483657" r:id="rId7"/>
  </p:sldLayoutIdLst>
  <p:transition spd="med"/>
  <p:hf sldNum="0" hdr="0" ftr="0" dt="0"/>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7" name="Group 4"/>
          <p:cNvGrpSpPr/>
          <p:nvPr/>
        </p:nvGrpSpPr>
        <p:grpSpPr>
          <a:xfrm>
            <a:off x="0" y="1"/>
            <a:ext cx="12192000" cy="357129"/>
            <a:chOff x="0" y="0"/>
            <a:chExt cx="12191999" cy="357127"/>
          </a:xfrm>
        </p:grpSpPr>
        <p:sp>
          <p:nvSpPr>
            <p:cNvPr id="123" name="Freeform 12"/>
            <p:cNvSpPr/>
            <p:nvPr/>
          </p:nvSpPr>
          <p:spPr>
            <a:xfrm>
              <a:off x="9143487" y="0"/>
              <a:ext cx="3048513" cy="357129"/>
            </a:xfrm>
            <a:prstGeom prst="rect">
              <a:avLst/>
            </a:prstGeom>
            <a:solidFill>
              <a:srgbClr val="AB2E91"/>
            </a:solidFill>
            <a:ln w="12700" cap="flat">
              <a:noFill/>
              <a:miter lim="400000"/>
            </a:ln>
            <a:effectLst/>
          </p:spPr>
          <p:txBody>
            <a:bodyPr wrap="square" lIns="45719" tIns="45719" rIns="45719" bIns="45719" numCol="1" anchor="t">
              <a:noAutofit/>
            </a:bodyPr>
            <a:lstStyle/>
            <a:p>
              <a:endParaRPr/>
            </a:p>
          </p:txBody>
        </p:sp>
        <p:sp>
          <p:nvSpPr>
            <p:cNvPr id="124" name="Freeform 11"/>
            <p:cNvSpPr/>
            <p:nvPr/>
          </p:nvSpPr>
          <p:spPr>
            <a:xfrm>
              <a:off x="6096000" y="0"/>
              <a:ext cx="3047489" cy="357129"/>
            </a:xfrm>
            <a:prstGeom prst="rect">
              <a:avLst/>
            </a:prstGeom>
            <a:solidFill>
              <a:srgbClr val="008FCD"/>
            </a:solidFill>
            <a:ln w="12700" cap="flat">
              <a:noFill/>
              <a:miter lim="400000"/>
            </a:ln>
            <a:effectLst/>
          </p:spPr>
          <p:txBody>
            <a:bodyPr wrap="square" lIns="45719" tIns="45719" rIns="45719" bIns="45719" numCol="1" anchor="t">
              <a:noAutofit/>
            </a:bodyPr>
            <a:lstStyle/>
            <a:p>
              <a:endParaRPr/>
            </a:p>
          </p:txBody>
        </p:sp>
        <p:sp>
          <p:nvSpPr>
            <p:cNvPr id="125" name="Freeform 10"/>
            <p:cNvSpPr/>
            <p:nvPr/>
          </p:nvSpPr>
          <p:spPr>
            <a:xfrm>
              <a:off x="3047488" y="0"/>
              <a:ext cx="3048512" cy="357129"/>
            </a:xfrm>
            <a:prstGeom prst="rect">
              <a:avLst/>
            </a:prstGeom>
            <a:solidFill>
              <a:srgbClr val="1E7B47"/>
            </a:solidFill>
            <a:ln w="12700" cap="flat">
              <a:noFill/>
              <a:miter lim="400000"/>
            </a:ln>
            <a:effectLst/>
          </p:spPr>
          <p:txBody>
            <a:bodyPr wrap="square" lIns="45719" tIns="45719" rIns="45719" bIns="45719" numCol="1" anchor="t">
              <a:noAutofit/>
            </a:bodyPr>
            <a:lstStyle/>
            <a:p>
              <a:endParaRPr/>
            </a:p>
          </p:txBody>
        </p:sp>
        <p:sp>
          <p:nvSpPr>
            <p:cNvPr id="126" name="Freeform 9"/>
            <p:cNvSpPr/>
            <p:nvPr/>
          </p:nvSpPr>
          <p:spPr>
            <a:xfrm>
              <a:off x="0" y="0"/>
              <a:ext cx="3047489" cy="357129"/>
            </a:xfrm>
            <a:prstGeom prst="rect">
              <a:avLst/>
            </a:prstGeom>
            <a:solidFill>
              <a:srgbClr val="F0532C"/>
            </a:solidFill>
            <a:ln w="12700" cap="flat">
              <a:noFill/>
              <a:miter lim="400000"/>
            </a:ln>
            <a:effectLst/>
          </p:spPr>
          <p:txBody>
            <a:bodyPr wrap="square" lIns="45719" tIns="45719" rIns="45719" bIns="45719" numCol="1" anchor="t">
              <a:noAutofit/>
            </a:bodyPr>
            <a:lstStyle/>
            <a:p>
              <a:endParaRPr/>
            </a:p>
          </p:txBody>
        </p:sp>
      </p:grpSp>
      <p:sp>
        <p:nvSpPr>
          <p:cNvPr id="128" name="TextBox 13"/>
          <p:cNvSpPr txBox="1"/>
          <p:nvPr/>
        </p:nvSpPr>
        <p:spPr>
          <a:xfrm>
            <a:off x="2990754" y="4652367"/>
            <a:ext cx="6096001" cy="14465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200" b="1"/>
            </a:pPr>
            <a:r>
              <a:rPr lang="en-AU" dirty="0"/>
              <a:t>DSAA204-Data Structure &amp; Algorithm</a:t>
            </a:r>
            <a:endParaRPr dirty="0"/>
          </a:p>
          <a:p>
            <a:pPr algn="ctr">
              <a:defRPr sz="2200" b="1"/>
            </a:pPr>
            <a:r>
              <a:rPr lang="en-US" dirty="0"/>
              <a:t>Final Exam Advice</a:t>
            </a:r>
          </a:p>
          <a:p>
            <a:pPr algn="ctr">
              <a:defRPr sz="2200" b="1"/>
            </a:pPr>
            <a:r>
              <a:rPr lang="en-US" dirty="0"/>
              <a:t>T2 25</a:t>
            </a:r>
            <a:endParaRPr dirty="0"/>
          </a:p>
          <a:p>
            <a:pPr algn="ctr">
              <a:defRPr sz="2200" b="1"/>
            </a:pPr>
            <a:endParaRPr lang="en-US" dirty="0"/>
          </a:p>
        </p:txBody>
      </p:sp>
      <p:pic>
        <p:nvPicPr>
          <p:cNvPr id="129" name="Picture 2" descr="Picture 2"/>
          <p:cNvPicPr>
            <a:picLocks noChangeAspect="1"/>
          </p:cNvPicPr>
          <p:nvPr/>
        </p:nvPicPr>
        <p:blipFill>
          <a:blip r:embed="rId2"/>
          <a:stretch>
            <a:fillRect/>
          </a:stretch>
        </p:blipFill>
        <p:spPr>
          <a:xfrm>
            <a:off x="3047488" y="1067420"/>
            <a:ext cx="5982533" cy="3603691"/>
          </a:xfrm>
          <a:prstGeom prst="rect">
            <a:avLst/>
          </a:prstGeom>
          <a:ln w="12700">
            <a:miter lim="400000"/>
          </a:ln>
        </p:spPr>
      </p:pic>
      <p:sp>
        <p:nvSpPr>
          <p:cNvPr id="130" name="Date Placeholder 1"/>
          <p:cNvSpPr txBox="1"/>
          <p:nvPr/>
        </p:nvSpPr>
        <p:spPr>
          <a:xfrm>
            <a:off x="8077200" y="5998108"/>
            <a:ext cx="3816928" cy="624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algn="r">
              <a:defRPr sz="1200" b="1">
                <a:solidFill>
                  <a:srgbClr val="888888"/>
                </a:solidFill>
              </a:defRPr>
            </a:pPr>
            <a:r>
              <a:t>Kent Institute Australia Pty. Ltd</a:t>
            </a:r>
            <a:r>
              <a:rPr b="0"/>
              <a:t>.</a:t>
            </a:r>
          </a:p>
          <a:p>
            <a:pPr algn="r">
              <a:defRPr sz="1200">
                <a:solidFill>
                  <a:srgbClr val="888888"/>
                </a:solidFill>
              </a:defRPr>
            </a:pPr>
            <a:r>
              <a:t>ABN 49 003 577 302  CRICOS Code: 00161E</a:t>
            </a:r>
            <a:br/>
            <a:r>
              <a:t>RTO Code: 90458  TEQSA Provider Number: PRV12051</a:t>
            </a:r>
          </a:p>
        </p:txBody>
      </p:sp>
      <p:sp>
        <p:nvSpPr>
          <p:cNvPr id="131" name="Date Placeholder 1"/>
          <p:cNvSpPr txBox="1"/>
          <p:nvPr/>
        </p:nvSpPr>
        <p:spPr>
          <a:xfrm>
            <a:off x="414950" y="6556692"/>
            <a:ext cx="3318850" cy="2692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a:defRPr sz="1200">
                <a:solidFill>
                  <a:srgbClr val="888888"/>
                </a:solidFill>
              </a:defRPr>
            </a:pPr>
            <a:r>
              <a:t>Version 2 – 18</a:t>
            </a:r>
            <a:r>
              <a:rPr baseline="30000"/>
              <a:t>th</a:t>
            </a:r>
            <a:r>
              <a:t> December 2015</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4F101-9EB1-5E4A-EE10-9331F723DAED}"/>
              </a:ext>
            </a:extLst>
          </p:cNvPr>
          <p:cNvSpPr>
            <a:spLocks noGrp="1"/>
          </p:cNvSpPr>
          <p:nvPr>
            <p:ph type="title"/>
          </p:nvPr>
        </p:nvSpPr>
        <p:spPr>
          <a:xfrm>
            <a:off x="609908" y="-1264281"/>
            <a:ext cx="10515600" cy="2852737"/>
          </a:xfrm>
        </p:spPr>
        <p:txBody>
          <a:bodyPr>
            <a:normAutofit/>
          </a:bodyPr>
          <a:lstStyle/>
          <a:p>
            <a:r>
              <a:rPr lang="en-US" sz="4000" dirty="0"/>
              <a:t>Final Exam details – Data Structure &amp; Algorithm</a:t>
            </a:r>
            <a:endParaRPr lang="en-AU" sz="4000" dirty="0"/>
          </a:p>
        </p:txBody>
      </p:sp>
      <p:sp>
        <p:nvSpPr>
          <p:cNvPr id="3" name="Text Placeholder 2">
            <a:extLst>
              <a:ext uri="{FF2B5EF4-FFF2-40B4-BE49-F238E27FC236}">
                <a16:creationId xmlns:a16="http://schemas.microsoft.com/office/drawing/2014/main" id="{10CE4427-0500-DD19-440F-DDFBAF6787E9}"/>
              </a:ext>
            </a:extLst>
          </p:cNvPr>
          <p:cNvSpPr>
            <a:spLocks noGrp="1"/>
          </p:cNvSpPr>
          <p:nvPr>
            <p:ph type="body" sz="quarter" idx="1"/>
          </p:nvPr>
        </p:nvSpPr>
        <p:spPr>
          <a:xfrm>
            <a:off x="831850" y="2095129"/>
            <a:ext cx="10515600" cy="4163196"/>
          </a:xfrm>
        </p:spPr>
        <p:txBody>
          <a:bodyPr/>
          <a:lstStyle/>
          <a:p>
            <a:pPr marL="342900" indent="-342900">
              <a:buFont typeface="Arial" panose="020B0604020202020204" pitchFamily="34" charset="0"/>
              <a:buChar char="•"/>
            </a:pPr>
            <a:r>
              <a:rPr lang="en-US" dirty="0">
                <a:solidFill>
                  <a:schemeClr val="tx1"/>
                </a:solidFill>
              </a:rPr>
              <a:t>Final exam will be face to face.</a:t>
            </a:r>
          </a:p>
          <a:p>
            <a:pPr marL="342900" indent="-342900">
              <a:buFont typeface="Arial" panose="020B0604020202020204" pitchFamily="34" charset="0"/>
              <a:buChar char="•"/>
            </a:pPr>
            <a:r>
              <a:rPr lang="en-US" dirty="0">
                <a:solidFill>
                  <a:schemeClr val="tx1"/>
                </a:solidFill>
              </a:rPr>
              <a:t>Final exam will be closed book.</a:t>
            </a:r>
          </a:p>
          <a:p>
            <a:pPr marL="342900" indent="-342900">
              <a:buFont typeface="Arial" panose="020B0604020202020204" pitchFamily="34" charset="0"/>
              <a:buChar char="•"/>
            </a:pPr>
            <a:r>
              <a:rPr lang="en-US" dirty="0">
                <a:solidFill>
                  <a:schemeClr val="tx1"/>
                </a:solidFill>
              </a:rPr>
              <a:t>Final exam will be of 2 hours + 10 minutes reading time.</a:t>
            </a:r>
          </a:p>
          <a:p>
            <a:pPr marL="342900" indent="-342900">
              <a:buFont typeface="Arial" panose="020B0604020202020204" pitchFamily="34" charset="0"/>
              <a:buChar char="•"/>
            </a:pPr>
            <a:r>
              <a:rPr lang="en-US" dirty="0">
                <a:solidFill>
                  <a:schemeClr val="tx1"/>
                </a:solidFill>
              </a:rPr>
              <a:t>Final exam will cover contents from Week 1 to Week 11 lectures.</a:t>
            </a:r>
          </a:p>
          <a:p>
            <a:pPr marL="342900" indent="-342900">
              <a:buFont typeface="Arial" panose="020B0604020202020204" pitchFamily="34" charset="0"/>
              <a:buChar char="•"/>
            </a:pPr>
            <a:r>
              <a:rPr lang="en-US" dirty="0">
                <a:solidFill>
                  <a:schemeClr val="tx1"/>
                </a:solidFill>
              </a:rPr>
              <a:t>You will be supplied with a question paper and answer sheet for the exam.</a:t>
            </a:r>
          </a:p>
          <a:p>
            <a:pPr marL="342900" indent="-342900">
              <a:buFont typeface="Arial" panose="020B0604020202020204" pitchFamily="34" charset="0"/>
              <a:buChar char="•"/>
            </a:pPr>
            <a:r>
              <a:rPr lang="en-US" dirty="0">
                <a:solidFill>
                  <a:schemeClr val="tx1"/>
                </a:solidFill>
              </a:rPr>
              <a:t>Please bring writing materials with you such as pens, markers etc.</a:t>
            </a:r>
          </a:p>
          <a:p>
            <a:pPr marL="342900" indent="-342900">
              <a:buFont typeface="Arial" panose="020B0604020202020204" pitchFamily="34" charset="0"/>
              <a:buChar char="•"/>
            </a:pPr>
            <a:r>
              <a:rPr lang="en-US" dirty="0">
                <a:solidFill>
                  <a:schemeClr val="tx1"/>
                </a:solidFill>
              </a:rPr>
              <a:t>Cell phones, smart watches and other portable electronic devices will not be permitted in exam.</a:t>
            </a:r>
          </a:p>
          <a:p>
            <a:pPr marL="342900" indent="-342900">
              <a:buFont typeface="Arial" panose="020B0604020202020204" pitchFamily="34" charset="0"/>
              <a:buChar char="•"/>
            </a:pPr>
            <a:endParaRPr lang="en-US" dirty="0">
              <a:solidFill>
                <a:schemeClr val="tx1"/>
              </a:solidFill>
            </a:endParaRPr>
          </a:p>
          <a:p>
            <a:endParaRPr lang="en-AU" dirty="0"/>
          </a:p>
        </p:txBody>
      </p:sp>
    </p:spTree>
    <p:extLst>
      <p:ext uri="{BB962C8B-B14F-4D97-AF65-F5344CB8AC3E}">
        <p14:creationId xmlns:p14="http://schemas.microsoft.com/office/powerpoint/2010/main" val="71708256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B7281-0905-BF3A-8C31-33D37C02A855}"/>
              </a:ext>
            </a:extLst>
          </p:cNvPr>
          <p:cNvSpPr>
            <a:spLocks noGrp="1"/>
          </p:cNvSpPr>
          <p:nvPr>
            <p:ph type="title"/>
          </p:nvPr>
        </p:nvSpPr>
        <p:spPr>
          <a:xfrm>
            <a:off x="524353" y="-1203395"/>
            <a:ext cx="10515600" cy="2852737"/>
          </a:xfrm>
        </p:spPr>
        <p:txBody>
          <a:bodyPr>
            <a:normAutofit/>
          </a:bodyPr>
          <a:lstStyle/>
          <a:p>
            <a:r>
              <a:rPr lang="en-US" sz="4000" dirty="0"/>
              <a:t>Final Exam Marks and weightage</a:t>
            </a:r>
          </a:p>
        </p:txBody>
      </p:sp>
      <p:sp>
        <p:nvSpPr>
          <p:cNvPr id="3" name="Text Placeholder 2">
            <a:extLst>
              <a:ext uri="{FF2B5EF4-FFF2-40B4-BE49-F238E27FC236}">
                <a16:creationId xmlns:a16="http://schemas.microsoft.com/office/drawing/2014/main" id="{5592D3AB-139E-10C8-1F46-A2CE05D3D37A}"/>
              </a:ext>
            </a:extLst>
          </p:cNvPr>
          <p:cNvSpPr>
            <a:spLocks noGrp="1"/>
          </p:cNvSpPr>
          <p:nvPr>
            <p:ph type="body" sz="quarter" idx="1"/>
          </p:nvPr>
        </p:nvSpPr>
        <p:spPr>
          <a:xfrm>
            <a:off x="524353" y="2315600"/>
            <a:ext cx="10515600" cy="1500188"/>
          </a:xfrm>
        </p:spPr>
        <p:txBody>
          <a:bodyPr/>
          <a:lstStyle/>
          <a:p>
            <a:pPr marL="342900" indent="-342900">
              <a:buFont typeface="Wingdings" panose="05000000000000000000" pitchFamily="2" charset="2"/>
              <a:buChar char="Ø"/>
            </a:pPr>
            <a:r>
              <a:rPr lang="en-US" dirty="0">
                <a:solidFill>
                  <a:schemeClr val="tx1"/>
                </a:solidFill>
              </a:rPr>
              <a:t>Weightage of your final exam is 30%</a:t>
            </a:r>
          </a:p>
          <a:p>
            <a:pPr marL="342900" indent="-342900">
              <a:buFont typeface="Wingdings" panose="05000000000000000000" pitchFamily="2" charset="2"/>
              <a:buChar char="Ø"/>
            </a:pPr>
            <a:r>
              <a:rPr lang="en-US" dirty="0">
                <a:solidFill>
                  <a:schemeClr val="tx1"/>
                </a:solidFill>
              </a:rPr>
              <a:t>Final exam will be of 30 marks</a:t>
            </a:r>
          </a:p>
        </p:txBody>
      </p:sp>
    </p:spTree>
    <p:extLst>
      <p:ext uri="{BB962C8B-B14F-4D97-AF65-F5344CB8AC3E}">
        <p14:creationId xmlns:p14="http://schemas.microsoft.com/office/powerpoint/2010/main" val="941124385"/>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B01D8-D2F3-8A7D-A140-AB03738B6032}"/>
              </a:ext>
            </a:extLst>
          </p:cNvPr>
          <p:cNvSpPr>
            <a:spLocks noGrp="1"/>
          </p:cNvSpPr>
          <p:nvPr>
            <p:ph type="title"/>
          </p:nvPr>
        </p:nvSpPr>
        <p:spPr>
          <a:xfrm>
            <a:off x="627663" y="-1426369"/>
            <a:ext cx="10515600" cy="2852737"/>
          </a:xfrm>
        </p:spPr>
        <p:txBody>
          <a:bodyPr>
            <a:normAutofit/>
          </a:bodyPr>
          <a:lstStyle/>
          <a:p>
            <a:r>
              <a:rPr lang="en-US" sz="4000" dirty="0"/>
              <a:t>Final Exam Format</a:t>
            </a:r>
            <a:endParaRPr lang="en-AU" sz="4000" dirty="0"/>
          </a:p>
        </p:txBody>
      </p:sp>
      <p:sp>
        <p:nvSpPr>
          <p:cNvPr id="3" name="Text Placeholder 2">
            <a:extLst>
              <a:ext uri="{FF2B5EF4-FFF2-40B4-BE49-F238E27FC236}">
                <a16:creationId xmlns:a16="http://schemas.microsoft.com/office/drawing/2014/main" id="{E60351F9-3C11-C7A3-F08D-BDEDACBE6CB9}"/>
              </a:ext>
            </a:extLst>
          </p:cNvPr>
          <p:cNvSpPr>
            <a:spLocks noGrp="1"/>
          </p:cNvSpPr>
          <p:nvPr>
            <p:ph type="body" sz="quarter" idx="1"/>
          </p:nvPr>
        </p:nvSpPr>
        <p:spPr>
          <a:xfrm>
            <a:off x="627663" y="1810398"/>
            <a:ext cx="10622133" cy="4803466"/>
          </a:xfrm>
        </p:spPr>
        <p:txBody>
          <a:bodyPr>
            <a:normAutofit/>
          </a:bodyPr>
          <a:lstStyle/>
          <a:p>
            <a:pPr marL="6350" marR="24130" indent="-6350" algn="just">
              <a:lnSpc>
                <a:spcPct val="107000"/>
              </a:lnSpc>
              <a:spcAft>
                <a:spcPts val="20"/>
              </a:spcAft>
            </a:pPr>
            <a:r>
              <a:rPr lang="en-AU" sz="1800" dirty="0">
                <a:solidFill>
                  <a:schemeClr val="tx1"/>
                </a:solidFill>
                <a:effectLst/>
                <a:latin typeface="Times New Roman" panose="02020603050405020304" pitchFamily="18" charset="0"/>
                <a:ea typeface="Times New Roman" panose="02020603050405020304" pitchFamily="18" charset="0"/>
              </a:rPr>
              <a:t> </a:t>
            </a:r>
            <a:r>
              <a:rPr lang="en-AU" b="1" dirty="0">
                <a:solidFill>
                  <a:schemeClr val="tx1"/>
                </a:solidFill>
                <a:latin typeface="Calibri" panose="020F0502020204030204" pitchFamily="34" charset="0"/>
                <a:cs typeface="Times New Roman" panose="02020603050405020304" pitchFamily="18" charset="0"/>
              </a:rPr>
              <a:t>Section 1: Short Questions </a:t>
            </a:r>
          </a:p>
          <a:p>
            <a:pPr>
              <a:lnSpc>
                <a:spcPct val="100000"/>
              </a:lnSpc>
              <a:spcBef>
                <a:spcPts val="300"/>
              </a:spcBef>
              <a:spcAft>
                <a:spcPts val="300"/>
              </a:spcAft>
              <a:tabLst>
                <a:tab pos="180340" algn="l"/>
              </a:tabLst>
            </a:pPr>
            <a:r>
              <a:rPr lang="en-AU" sz="2100" dirty="0">
                <a:solidFill>
                  <a:schemeClr val="tx1"/>
                </a:solidFill>
                <a:latin typeface="Times New Roman" panose="02020603050405020304" pitchFamily="18" charset="0"/>
              </a:rPr>
              <a:t>There will be 8 short questions in Section 1, and you will have to solve any 6 of them. Each question will be worth 3 marks</a:t>
            </a:r>
          </a:p>
          <a:p>
            <a:pPr marR="24130" algn="just">
              <a:lnSpc>
                <a:spcPct val="100000"/>
              </a:lnSpc>
              <a:spcAft>
                <a:spcPts val="20"/>
              </a:spcAft>
            </a:pPr>
            <a:r>
              <a:rPr lang="en-AU" sz="2100" dirty="0">
                <a:solidFill>
                  <a:schemeClr val="tx1"/>
                </a:solidFill>
                <a:latin typeface="Times New Roman" panose="02020603050405020304" pitchFamily="18" charset="0"/>
              </a:rPr>
              <a:t>(6 x 3 mark = 18 marks)</a:t>
            </a:r>
          </a:p>
          <a:p>
            <a:pPr marR="24130" algn="just">
              <a:lnSpc>
                <a:spcPct val="100000"/>
              </a:lnSpc>
              <a:spcAft>
                <a:spcPts val="20"/>
              </a:spcAft>
            </a:pPr>
            <a:r>
              <a:rPr lang="en-AU" sz="2100" dirty="0">
                <a:solidFill>
                  <a:schemeClr val="tx1"/>
                </a:solidFill>
                <a:latin typeface="Times New Roman" panose="02020603050405020304" pitchFamily="18" charset="0"/>
              </a:rPr>
              <a:t> </a:t>
            </a:r>
          </a:p>
          <a:p>
            <a:pPr>
              <a:spcBef>
                <a:spcPts val="300"/>
              </a:spcBef>
              <a:spcAft>
                <a:spcPts val="300"/>
              </a:spcAft>
              <a:tabLst>
                <a:tab pos="180340" algn="l"/>
              </a:tabLst>
            </a:pPr>
            <a:r>
              <a:rPr lang="en-AU" b="1" dirty="0">
                <a:solidFill>
                  <a:schemeClr val="tx1"/>
                </a:solidFill>
                <a:latin typeface="Calibri" panose="020F0502020204030204" pitchFamily="34" charset="0"/>
                <a:cs typeface="Times New Roman" panose="02020603050405020304" pitchFamily="18" charset="0"/>
              </a:rPr>
              <a:t>Section 2: Long Questions </a:t>
            </a:r>
          </a:p>
          <a:p>
            <a:pPr>
              <a:lnSpc>
                <a:spcPct val="100000"/>
              </a:lnSpc>
              <a:spcBef>
                <a:spcPts val="300"/>
              </a:spcBef>
              <a:spcAft>
                <a:spcPts val="300"/>
              </a:spcAft>
              <a:tabLst>
                <a:tab pos="180340" algn="l"/>
              </a:tabLst>
            </a:pPr>
            <a:r>
              <a:rPr lang="en-AU" sz="2100" dirty="0">
                <a:solidFill>
                  <a:schemeClr val="tx1"/>
                </a:solidFill>
                <a:latin typeface="Times New Roman" panose="02020603050405020304" pitchFamily="18" charset="0"/>
              </a:rPr>
              <a:t>There will be 3 long questions in section 2, and you will have to answer any 2 of them. Each questions may  be comprising of multiple parts, and you must solve all the parts for your selected question. Each question will be worth 12 marks.</a:t>
            </a:r>
          </a:p>
          <a:p>
            <a:pPr marR="24130" algn="just">
              <a:lnSpc>
                <a:spcPct val="100000"/>
              </a:lnSpc>
              <a:spcAft>
                <a:spcPts val="20"/>
              </a:spcAft>
            </a:pPr>
            <a:r>
              <a:rPr lang="en-AU" sz="2100" dirty="0">
                <a:solidFill>
                  <a:schemeClr val="tx1"/>
                </a:solidFill>
                <a:latin typeface="Times New Roman" panose="02020603050405020304" pitchFamily="18" charset="0"/>
              </a:rPr>
              <a:t>(2 x 6 mark = 12 marks)</a:t>
            </a:r>
          </a:p>
        </p:txBody>
      </p:sp>
    </p:spTree>
    <p:extLst>
      <p:ext uri="{BB962C8B-B14F-4D97-AF65-F5344CB8AC3E}">
        <p14:creationId xmlns:p14="http://schemas.microsoft.com/office/powerpoint/2010/main" val="138756347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8CC3C-702B-00F2-DA3B-D723A45386E5}"/>
              </a:ext>
            </a:extLst>
          </p:cNvPr>
          <p:cNvSpPr>
            <a:spLocks noGrp="1"/>
          </p:cNvSpPr>
          <p:nvPr>
            <p:ph type="title"/>
          </p:nvPr>
        </p:nvSpPr>
        <p:spPr>
          <a:xfrm>
            <a:off x="530009" y="-1193260"/>
            <a:ext cx="10515600" cy="2852737"/>
          </a:xfrm>
        </p:spPr>
        <p:txBody>
          <a:bodyPr>
            <a:normAutofit/>
          </a:bodyPr>
          <a:lstStyle/>
          <a:p>
            <a:r>
              <a:rPr lang="en-US" sz="3600" dirty="0"/>
              <a:t>Final Exam Format</a:t>
            </a:r>
            <a:endParaRPr lang="en-AU" sz="3600" dirty="0"/>
          </a:p>
        </p:txBody>
      </p:sp>
      <p:graphicFrame>
        <p:nvGraphicFramePr>
          <p:cNvPr id="4" name="Table 3">
            <a:extLst>
              <a:ext uri="{FF2B5EF4-FFF2-40B4-BE49-F238E27FC236}">
                <a16:creationId xmlns:a16="http://schemas.microsoft.com/office/drawing/2014/main" id="{D1D7C134-774C-70BC-E765-0B83D7A05F8D}"/>
              </a:ext>
            </a:extLst>
          </p:cNvPr>
          <p:cNvGraphicFramePr>
            <a:graphicFrameLocks noGrp="1"/>
          </p:cNvGraphicFramePr>
          <p:nvPr>
            <p:extLst>
              <p:ext uri="{D42A27DB-BD31-4B8C-83A1-F6EECF244321}">
                <p14:modId xmlns:p14="http://schemas.microsoft.com/office/powerpoint/2010/main" val="1660723680"/>
              </p:ext>
            </p:extLst>
          </p:nvPr>
        </p:nvGraphicFramePr>
        <p:xfrm>
          <a:off x="1278542" y="2659924"/>
          <a:ext cx="9459589" cy="2616300"/>
        </p:xfrm>
        <a:graphic>
          <a:graphicData uri="http://schemas.openxmlformats.org/drawingml/2006/table">
            <a:tbl>
              <a:tblPr firstRow="1" firstCol="1" lastRow="1" lastCol="1" bandRow="1" bandCol="1">
                <a:tableStyleId>{5940675A-B579-460E-94D1-54222C63F5DA}</a:tableStyleId>
              </a:tblPr>
              <a:tblGrid>
                <a:gridCol w="1080868">
                  <a:extLst>
                    <a:ext uri="{9D8B030D-6E8A-4147-A177-3AD203B41FA5}">
                      <a16:colId xmlns:a16="http://schemas.microsoft.com/office/drawing/2014/main" val="3533817355"/>
                    </a:ext>
                  </a:extLst>
                </a:gridCol>
                <a:gridCol w="2989425">
                  <a:extLst>
                    <a:ext uri="{9D8B030D-6E8A-4147-A177-3AD203B41FA5}">
                      <a16:colId xmlns:a16="http://schemas.microsoft.com/office/drawing/2014/main" val="4129659572"/>
                    </a:ext>
                  </a:extLst>
                </a:gridCol>
                <a:gridCol w="2548992">
                  <a:extLst>
                    <a:ext uri="{9D8B030D-6E8A-4147-A177-3AD203B41FA5}">
                      <a16:colId xmlns:a16="http://schemas.microsoft.com/office/drawing/2014/main" val="751267462"/>
                    </a:ext>
                  </a:extLst>
                </a:gridCol>
                <a:gridCol w="2840304">
                  <a:extLst>
                    <a:ext uri="{9D8B030D-6E8A-4147-A177-3AD203B41FA5}">
                      <a16:colId xmlns:a16="http://schemas.microsoft.com/office/drawing/2014/main" val="1140480684"/>
                    </a:ext>
                  </a:extLst>
                </a:gridCol>
              </a:tblGrid>
              <a:tr h="523260">
                <a:tc gridSpan="4">
                  <a:txBody>
                    <a:bodyPr/>
                    <a:lstStyle/>
                    <a:p>
                      <a:pPr algn="ctr">
                        <a:lnSpc>
                          <a:spcPct val="115000"/>
                        </a:lnSpc>
                        <a:spcBef>
                          <a:spcPts val="300"/>
                        </a:spcBef>
                        <a:spcAft>
                          <a:spcPts val="300"/>
                        </a:spcAft>
                        <a:tabLst>
                          <a:tab pos="180340" algn="l"/>
                        </a:tabLst>
                      </a:pPr>
                      <a:r>
                        <a:rPr lang="en-AU" sz="2000" b="1" dirty="0">
                          <a:solidFill>
                            <a:srgbClr val="007F8D"/>
                          </a:solidFill>
                          <a:effectLst/>
                          <a:latin typeface="Myriad Pro"/>
                          <a:ea typeface="Times New Roman" panose="02020603050405020304" pitchFamily="18" charset="0"/>
                          <a:cs typeface="Times New Roman" panose="02020603050405020304" pitchFamily="18" charset="0"/>
                        </a:rPr>
                        <a:t>DSAA204 – Data Structure &amp; Algorithm – Final Exam Format</a:t>
                      </a: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72883112"/>
                  </a:ext>
                </a:extLst>
              </a:tr>
              <a:tr h="523260">
                <a:tc gridSpan="4">
                  <a:txBody>
                    <a:bodyPr/>
                    <a:lstStyle/>
                    <a:p>
                      <a:pPr algn="ctr">
                        <a:lnSpc>
                          <a:spcPct val="115000"/>
                        </a:lnSpc>
                        <a:spcBef>
                          <a:spcPts val="300"/>
                        </a:spcBef>
                        <a:spcAft>
                          <a:spcPts val="300"/>
                        </a:spcAft>
                        <a:tabLst>
                          <a:tab pos="180340" algn="l"/>
                        </a:tabLst>
                      </a:pPr>
                      <a:r>
                        <a:rPr lang="en-AU" sz="2000" b="1" dirty="0">
                          <a:effectLst/>
                        </a:rPr>
                        <a:t>Question Layout </a:t>
                      </a:r>
                      <a:endParaRPr lang="en-AU" sz="2000" b="1" dirty="0">
                        <a:solidFill>
                          <a:srgbClr val="007F8D"/>
                        </a:solidFill>
                        <a:effectLst/>
                        <a:latin typeface="Myriad Pro"/>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1798674995"/>
                  </a:ext>
                </a:extLst>
              </a:tr>
              <a:tr h="523260">
                <a:tc>
                  <a:txBody>
                    <a:bodyPr/>
                    <a:lstStyle/>
                    <a:p>
                      <a:pPr algn="ctr">
                        <a:lnSpc>
                          <a:spcPct val="115000"/>
                        </a:lnSpc>
                        <a:spcBef>
                          <a:spcPts val="300"/>
                        </a:spcBef>
                        <a:spcAft>
                          <a:spcPts val="300"/>
                        </a:spcAft>
                        <a:tabLst>
                          <a:tab pos="180340" algn="l"/>
                        </a:tabLst>
                      </a:pPr>
                      <a:r>
                        <a:rPr lang="en-AU" sz="2000" b="1">
                          <a:effectLst/>
                        </a:rPr>
                        <a:t>Section</a:t>
                      </a:r>
                      <a:endParaRPr lang="en-AU" sz="2000" b="1">
                        <a:solidFill>
                          <a:srgbClr val="007F8D"/>
                        </a:solidFill>
                        <a:effectLst/>
                        <a:latin typeface="Myriad Pro"/>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300"/>
                        </a:spcBef>
                        <a:spcAft>
                          <a:spcPts val="300"/>
                        </a:spcAft>
                        <a:tabLst>
                          <a:tab pos="180340" algn="l"/>
                        </a:tabLst>
                      </a:pPr>
                      <a:r>
                        <a:rPr lang="en-AU" sz="2000" b="1" dirty="0">
                          <a:effectLst/>
                        </a:rPr>
                        <a:t>Question Type</a:t>
                      </a:r>
                      <a:endParaRPr lang="en-AU" sz="2000" b="1" dirty="0">
                        <a:solidFill>
                          <a:srgbClr val="007F8D"/>
                        </a:solidFill>
                        <a:effectLst/>
                        <a:latin typeface="Myriad Pro"/>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300"/>
                        </a:spcBef>
                        <a:spcAft>
                          <a:spcPts val="300"/>
                        </a:spcAft>
                        <a:tabLst>
                          <a:tab pos="180340" algn="l"/>
                        </a:tabLst>
                      </a:pPr>
                      <a:r>
                        <a:rPr lang="en-AU" sz="2000" b="1">
                          <a:effectLst/>
                        </a:rPr>
                        <a:t>No. Of questions</a:t>
                      </a:r>
                      <a:endParaRPr lang="en-AU" sz="2000" b="1">
                        <a:solidFill>
                          <a:srgbClr val="007F8D"/>
                        </a:solidFill>
                        <a:effectLst/>
                        <a:latin typeface="Myriad Pro"/>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300"/>
                        </a:spcBef>
                        <a:spcAft>
                          <a:spcPts val="300"/>
                        </a:spcAft>
                        <a:tabLst>
                          <a:tab pos="180340" algn="l"/>
                        </a:tabLst>
                      </a:pPr>
                      <a:r>
                        <a:rPr lang="en-AU" sz="2000" b="1" dirty="0">
                          <a:effectLst/>
                        </a:rPr>
                        <a:t>Allocated Marks</a:t>
                      </a:r>
                    </a:p>
                  </a:txBody>
                  <a:tcPr marL="68580" marR="68580" marT="0" marB="0" anchor="ctr"/>
                </a:tc>
                <a:extLst>
                  <a:ext uri="{0D108BD9-81ED-4DB2-BD59-A6C34878D82A}">
                    <a16:rowId xmlns:a16="http://schemas.microsoft.com/office/drawing/2014/main" val="3933602351"/>
                  </a:ext>
                </a:extLst>
              </a:tr>
              <a:tr h="523260">
                <a:tc>
                  <a:txBody>
                    <a:bodyPr/>
                    <a:lstStyle/>
                    <a:p>
                      <a:pPr algn="ctr">
                        <a:lnSpc>
                          <a:spcPct val="115000"/>
                        </a:lnSpc>
                        <a:spcBef>
                          <a:spcPts val="300"/>
                        </a:spcBef>
                        <a:spcAft>
                          <a:spcPts val="300"/>
                        </a:spcAft>
                        <a:tabLst>
                          <a:tab pos="180340" algn="l"/>
                        </a:tabLst>
                      </a:pPr>
                      <a:r>
                        <a:rPr lang="en-AU" sz="2000" b="1" dirty="0">
                          <a:solidFill>
                            <a:schemeClr val="tx1"/>
                          </a:solidFill>
                          <a:effectLst/>
                          <a:latin typeface="Myriad Pro"/>
                          <a:ea typeface="Times New Roman" panose="02020603050405020304" pitchFamily="18" charset="0"/>
                          <a:cs typeface="Times New Roman" panose="02020603050405020304" pitchFamily="18" charset="0"/>
                        </a:rPr>
                        <a:t>1</a:t>
                      </a:r>
                    </a:p>
                  </a:txBody>
                  <a:tcPr marL="68580" marR="68580" marT="0" marB="0" anchor="ctr"/>
                </a:tc>
                <a:tc>
                  <a:txBody>
                    <a:bodyPr/>
                    <a:lstStyle/>
                    <a:p>
                      <a:pPr algn="l">
                        <a:lnSpc>
                          <a:spcPct val="115000"/>
                        </a:lnSpc>
                        <a:spcBef>
                          <a:spcPts val="300"/>
                        </a:spcBef>
                        <a:spcAft>
                          <a:spcPts val="300"/>
                        </a:spcAft>
                        <a:tabLst>
                          <a:tab pos="180340" algn="l"/>
                        </a:tabLst>
                      </a:pPr>
                      <a:r>
                        <a:rPr lang="en-AU" sz="2000" b="1">
                          <a:effectLst/>
                        </a:rPr>
                        <a:t>Short Answers</a:t>
                      </a:r>
                      <a:endParaRPr lang="en-AU" sz="2000" b="1">
                        <a:solidFill>
                          <a:srgbClr val="007F8D"/>
                        </a:solidFill>
                        <a:effectLst/>
                        <a:latin typeface="Myriad Pro"/>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300"/>
                        </a:spcBef>
                        <a:spcAft>
                          <a:spcPts val="300"/>
                        </a:spcAft>
                        <a:tabLst>
                          <a:tab pos="180340" algn="l"/>
                        </a:tabLst>
                      </a:pPr>
                      <a:r>
                        <a:rPr lang="en-AU" sz="2000" b="1" dirty="0">
                          <a:solidFill>
                            <a:schemeClr val="tx1"/>
                          </a:solidFill>
                          <a:effectLst/>
                          <a:latin typeface="+mn-lt"/>
                          <a:ea typeface="Times New Roman" panose="02020603050405020304" pitchFamily="18" charset="0"/>
                          <a:cs typeface="Times New Roman" panose="02020603050405020304" pitchFamily="18" charset="0"/>
                        </a:rPr>
                        <a:t>6</a:t>
                      </a:r>
                    </a:p>
                  </a:txBody>
                  <a:tcPr marL="68580" marR="68580" marT="0" marB="0" anchor="ctr"/>
                </a:tc>
                <a:tc>
                  <a:txBody>
                    <a:bodyPr/>
                    <a:lstStyle/>
                    <a:p>
                      <a:pPr algn="ctr">
                        <a:lnSpc>
                          <a:spcPct val="115000"/>
                        </a:lnSpc>
                        <a:spcBef>
                          <a:spcPts val="300"/>
                        </a:spcBef>
                        <a:spcAft>
                          <a:spcPts val="300"/>
                        </a:spcAft>
                        <a:tabLst>
                          <a:tab pos="180340" algn="l"/>
                        </a:tabLst>
                      </a:pPr>
                      <a:r>
                        <a:rPr lang="en-AU" sz="2000" b="1" dirty="0">
                          <a:solidFill>
                            <a:schemeClr val="tx1"/>
                          </a:solidFill>
                          <a:effectLst/>
                          <a:latin typeface="+mn-lt"/>
                          <a:ea typeface="Times New Roman" panose="02020603050405020304" pitchFamily="18" charset="0"/>
                          <a:cs typeface="Times New Roman" panose="02020603050405020304" pitchFamily="18" charset="0"/>
                        </a:rPr>
                        <a:t>18</a:t>
                      </a:r>
                    </a:p>
                  </a:txBody>
                  <a:tcPr marL="68580" marR="68580" marT="0" marB="0" anchor="ctr"/>
                </a:tc>
                <a:extLst>
                  <a:ext uri="{0D108BD9-81ED-4DB2-BD59-A6C34878D82A}">
                    <a16:rowId xmlns:a16="http://schemas.microsoft.com/office/drawing/2014/main" val="6837769"/>
                  </a:ext>
                </a:extLst>
              </a:tr>
              <a:tr h="523260">
                <a:tc>
                  <a:txBody>
                    <a:bodyPr/>
                    <a:lstStyle/>
                    <a:p>
                      <a:pPr algn="ctr">
                        <a:lnSpc>
                          <a:spcPct val="115000"/>
                        </a:lnSpc>
                        <a:spcBef>
                          <a:spcPts val="300"/>
                        </a:spcBef>
                        <a:spcAft>
                          <a:spcPts val="300"/>
                        </a:spcAft>
                        <a:tabLst>
                          <a:tab pos="180340" algn="l"/>
                        </a:tabLst>
                      </a:pPr>
                      <a:r>
                        <a:rPr lang="en-AU" sz="2000" b="1" dirty="0">
                          <a:solidFill>
                            <a:schemeClr val="tx1"/>
                          </a:solidFill>
                          <a:effectLst/>
                          <a:latin typeface="Myriad Pro"/>
                          <a:ea typeface="Times New Roman" panose="02020603050405020304" pitchFamily="18" charset="0"/>
                          <a:cs typeface="Times New Roman" panose="02020603050405020304" pitchFamily="18" charset="0"/>
                        </a:rPr>
                        <a:t>2</a:t>
                      </a:r>
                    </a:p>
                  </a:txBody>
                  <a:tcPr marL="68580" marR="68580" marT="0" marB="0" anchor="ctr"/>
                </a:tc>
                <a:tc>
                  <a:txBody>
                    <a:bodyPr/>
                    <a:lstStyle/>
                    <a:p>
                      <a:pPr algn="l">
                        <a:lnSpc>
                          <a:spcPct val="115000"/>
                        </a:lnSpc>
                        <a:spcBef>
                          <a:spcPts val="300"/>
                        </a:spcBef>
                        <a:spcAft>
                          <a:spcPts val="300"/>
                        </a:spcAft>
                        <a:tabLst>
                          <a:tab pos="180340" algn="l"/>
                        </a:tabLst>
                      </a:pPr>
                      <a:r>
                        <a:rPr lang="en-AU" sz="2000" b="1" dirty="0">
                          <a:effectLst/>
                        </a:rPr>
                        <a:t>Long Answers</a:t>
                      </a:r>
                      <a:endParaRPr lang="en-AU" sz="2000" b="1" dirty="0">
                        <a:solidFill>
                          <a:srgbClr val="007F8D"/>
                        </a:solidFill>
                        <a:effectLst/>
                        <a:latin typeface="Myriad Pro"/>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300"/>
                        </a:spcBef>
                        <a:spcAft>
                          <a:spcPts val="300"/>
                        </a:spcAft>
                        <a:tabLst>
                          <a:tab pos="180340" algn="l"/>
                        </a:tabLst>
                      </a:pPr>
                      <a:r>
                        <a:rPr lang="en-AU" sz="2000" b="1" dirty="0">
                          <a:solidFill>
                            <a:schemeClr val="tx1"/>
                          </a:solidFill>
                          <a:effectLst/>
                          <a:latin typeface="+mn-lt"/>
                          <a:ea typeface="Times New Roman" panose="02020603050405020304" pitchFamily="18" charset="0"/>
                          <a:cs typeface="Times New Roman" panose="02020603050405020304" pitchFamily="18" charset="0"/>
                        </a:rPr>
                        <a:t>2</a:t>
                      </a:r>
                    </a:p>
                  </a:txBody>
                  <a:tcPr marL="68580" marR="68580" marT="0" marB="0" anchor="ctr"/>
                </a:tc>
                <a:tc>
                  <a:txBody>
                    <a:bodyPr/>
                    <a:lstStyle/>
                    <a:p>
                      <a:pPr algn="ctr">
                        <a:lnSpc>
                          <a:spcPct val="115000"/>
                        </a:lnSpc>
                        <a:spcBef>
                          <a:spcPts val="300"/>
                        </a:spcBef>
                        <a:spcAft>
                          <a:spcPts val="300"/>
                        </a:spcAft>
                        <a:tabLst>
                          <a:tab pos="180340" algn="l"/>
                        </a:tabLst>
                      </a:pPr>
                      <a:r>
                        <a:rPr lang="en-AU" sz="2000" b="1" dirty="0">
                          <a:solidFill>
                            <a:schemeClr val="tx1"/>
                          </a:solidFill>
                          <a:effectLst/>
                          <a:latin typeface="+mn-lt"/>
                          <a:ea typeface="Times New Roman" panose="02020603050405020304" pitchFamily="18" charset="0"/>
                          <a:cs typeface="Times New Roman" panose="02020603050405020304" pitchFamily="18" charset="0"/>
                        </a:rPr>
                        <a:t>12</a:t>
                      </a:r>
                    </a:p>
                  </a:txBody>
                  <a:tcPr marL="68580" marR="68580" marT="0" marB="0" anchor="ctr"/>
                </a:tc>
                <a:extLst>
                  <a:ext uri="{0D108BD9-81ED-4DB2-BD59-A6C34878D82A}">
                    <a16:rowId xmlns:a16="http://schemas.microsoft.com/office/drawing/2014/main" val="1665200099"/>
                  </a:ext>
                </a:extLst>
              </a:tr>
            </a:tbl>
          </a:graphicData>
        </a:graphic>
      </p:graphicFrame>
    </p:spTree>
    <p:extLst>
      <p:ext uri="{BB962C8B-B14F-4D97-AF65-F5344CB8AC3E}">
        <p14:creationId xmlns:p14="http://schemas.microsoft.com/office/powerpoint/2010/main" val="115586243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BF3A-F421-735E-BB5A-39C3D8C68CA9}"/>
              </a:ext>
            </a:extLst>
          </p:cNvPr>
          <p:cNvSpPr>
            <a:spLocks noGrp="1"/>
          </p:cNvSpPr>
          <p:nvPr>
            <p:ph type="title"/>
          </p:nvPr>
        </p:nvSpPr>
        <p:spPr>
          <a:xfrm>
            <a:off x="467708" y="-1624181"/>
            <a:ext cx="10515600" cy="2852737"/>
          </a:xfrm>
        </p:spPr>
        <p:txBody>
          <a:bodyPr>
            <a:normAutofit/>
          </a:bodyPr>
          <a:lstStyle/>
          <a:p>
            <a:r>
              <a:rPr lang="en-US" sz="4000" dirty="0"/>
              <a:t>Important Topics</a:t>
            </a:r>
          </a:p>
        </p:txBody>
      </p:sp>
      <p:sp>
        <p:nvSpPr>
          <p:cNvPr id="3" name="Text Placeholder 2">
            <a:extLst>
              <a:ext uri="{FF2B5EF4-FFF2-40B4-BE49-F238E27FC236}">
                <a16:creationId xmlns:a16="http://schemas.microsoft.com/office/drawing/2014/main" id="{A37F4011-AC9D-8CEF-44E8-3E962DF87346}"/>
              </a:ext>
            </a:extLst>
          </p:cNvPr>
          <p:cNvSpPr>
            <a:spLocks noGrp="1"/>
          </p:cNvSpPr>
          <p:nvPr>
            <p:ph type="body" sz="quarter" idx="1"/>
          </p:nvPr>
        </p:nvSpPr>
        <p:spPr>
          <a:xfrm>
            <a:off x="467708" y="1569854"/>
            <a:ext cx="10515600" cy="4839037"/>
          </a:xfrm>
        </p:spPr>
        <p:txBody>
          <a:bodyPr>
            <a:normAutofit/>
          </a:bodyPr>
          <a:lstStyle/>
          <a:p>
            <a:pPr marL="6350" marR="27305" indent="-6350" algn="just">
              <a:lnSpc>
                <a:spcPct val="109000"/>
              </a:lnSpc>
              <a:spcBef>
                <a:spcPts val="0"/>
              </a:spcBef>
              <a:spcAft>
                <a:spcPts val="20"/>
              </a:spcAft>
            </a:pPr>
            <a:r>
              <a:rPr lang="en-AU" sz="1800" dirty="0">
                <a:solidFill>
                  <a:srgbClr val="000000"/>
                </a:solidFill>
                <a:effectLst/>
                <a:latin typeface="Times New Roman" panose="02020603050405020304" pitchFamily="18" charset="0"/>
                <a:ea typeface="Times New Roman" panose="02020603050405020304" pitchFamily="18" charset="0"/>
              </a:rPr>
              <a:t>The exam would consist of questions from week 1 to week 11 lectures . Some of the important topics would be: </a:t>
            </a:r>
            <a:endParaRPr lang="en-US" sz="1800" dirty="0">
              <a:solidFill>
                <a:srgbClr val="000000"/>
              </a:solidFill>
              <a:effectLst/>
              <a:latin typeface="Times New Roman" panose="02020603050405020304" pitchFamily="18" charset="0"/>
              <a:ea typeface="Times New Roman" panose="02020603050405020304" pitchFamily="18" charset="0"/>
            </a:endParaRPr>
          </a:p>
          <a:p>
            <a:pPr marL="0" marR="0" indent="0" algn="l">
              <a:lnSpc>
                <a:spcPct val="107000"/>
              </a:lnSpc>
              <a:spcBef>
                <a:spcPts val="0"/>
              </a:spcBef>
              <a:spcAft>
                <a:spcPts val="25"/>
              </a:spcAft>
            </a:pPr>
            <a:r>
              <a:rPr lang="en-AU" sz="1800" dirty="0">
                <a:solidFill>
                  <a:srgbClr val="000000"/>
                </a:solidFill>
                <a:effectLst/>
                <a:latin typeface="Times New Roman" panose="02020603050405020304" pitchFamily="18" charset="0"/>
                <a:ea typeface="Times New Roman" panose="02020603050405020304" pitchFamily="18" charset="0"/>
              </a:rPr>
              <a:t>  </a:t>
            </a:r>
            <a:endParaRPr lang="en-US"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lgn="l">
              <a:lnSpc>
                <a:spcPct val="107000"/>
              </a:lnSpc>
              <a:spcBef>
                <a:spcPts val="0"/>
              </a:spcBef>
              <a:spcAft>
                <a:spcPts val="70"/>
              </a:spcAft>
              <a:buFont typeface="Symbol" panose="05050102010706020507" pitchFamily="18" charset="2"/>
              <a:buChar char=""/>
            </a:pPr>
            <a:r>
              <a:rPr lang="en-AU" sz="1800" dirty="0">
                <a:solidFill>
                  <a:srgbClr val="000000"/>
                </a:solidFill>
                <a:effectLst/>
                <a:latin typeface="Times New Roman" panose="02020603050405020304" pitchFamily="18" charset="0"/>
                <a:ea typeface="Times New Roman" panose="02020603050405020304" pitchFamily="18" charset="0"/>
              </a:rPr>
              <a:t>Java Revision</a:t>
            </a:r>
            <a:endParaRPr lang="en-US"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lgn="l">
              <a:lnSpc>
                <a:spcPct val="107000"/>
              </a:lnSpc>
              <a:spcBef>
                <a:spcPts val="0"/>
              </a:spcBef>
              <a:spcAft>
                <a:spcPts val="70"/>
              </a:spcAft>
              <a:buFont typeface="Symbol" panose="05050102010706020507" pitchFamily="18" charset="2"/>
              <a:buChar char=""/>
            </a:pPr>
            <a:r>
              <a:rPr lang="en-AU" sz="1800" dirty="0">
                <a:solidFill>
                  <a:srgbClr val="000000"/>
                </a:solidFill>
                <a:effectLst/>
                <a:latin typeface="Times New Roman" panose="02020603050405020304" pitchFamily="18" charset="0"/>
                <a:ea typeface="Times New Roman" panose="02020603050405020304" pitchFamily="18" charset="0"/>
              </a:rPr>
              <a:t>Stack &amp; Queue</a:t>
            </a:r>
            <a:endParaRPr lang="en-US"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lgn="l">
              <a:lnSpc>
                <a:spcPct val="107000"/>
              </a:lnSpc>
              <a:spcBef>
                <a:spcPts val="0"/>
              </a:spcBef>
              <a:spcAft>
                <a:spcPts val="70"/>
              </a:spcAft>
              <a:buFont typeface="Symbol" panose="05050102010706020507" pitchFamily="18" charset="2"/>
              <a:buChar char=""/>
            </a:pPr>
            <a:r>
              <a:rPr lang="en-AU" sz="1800" dirty="0">
                <a:solidFill>
                  <a:srgbClr val="000000"/>
                </a:solidFill>
                <a:effectLst/>
                <a:latin typeface="Times New Roman" panose="02020603050405020304" pitchFamily="18" charset="0"/>
                <a:ea typeface="Times New Roman" panose="02020603050405020304" pitchFamily="18" charset="0"/>
              </a:rPr>
              <a:t>Arrays and LinkedList</a:t>
            </a:r>
            <a:endParaRPr lang="en-US"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lgn="l">
              <a:lnSpc>
                <a:spcPct val="107000"/>
              </a:lnSpc>
              <a:spcBef>
                <a:spcPts val="0"/>
              </a:spcBef>
              <a:spcAft>
                <a:spcPts val="70"/>
              </a:spcAft>
              <a:buFont typeface="Symbol" panose="05050102010706020507" pitchFamily="18" charset="2"/>
              <a:buChar char=""/>
            </a:pPr>
            <a:r>
              <a:rPr lang="en-AU" sz="1800" dirty="0">
                <a:solidFill>
                  <a:srgbClr val="000000"/>
                </a:solidFill>
                <a:effectLst/>
                <a:latin typeface="Times New Roman" panose="02020603050405020304" pitchFamily="18" charset="0"/>
                <a:ea typeface="Times New Roman" panose="02020603050405020304" pitchFamily="18" charset="0"/>
              </a:rPr>
              <a:t>Selection Sort, Insertion Sort</a:t>
            </a:r>
            <a:endParaRPr lang="en-US"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lgn="l">
              <a:lnSpc>
                <a:spcPct val="107000"/>
              </a:lnSpc>
              <a:spcBef>
                <a:spcPts val="0"/>
              </a:spcBef>
              <a:spcAft>
                <a:spcPts val="70"/>
              </a:spcAft>
              <a:buFont typeface="Symbol" panose="05050102010706020507" pitchFamily="18" charset="2"/>
              <a:buChar char=""/>
            </a:pPr>
            <a:r>
              <a:rPr lang="en-AU" sz="1800" dirty="0">
                <a:solidFill>
                  <a:srgbClr val="000000"/>
                </a:solidFill>
                <a:effectLst/>
                <a:latin typeface="Times New Roman" panose="02020603050405020304" pitchFamily="18" charset="0"/>
                <a:ea typeface="Times New Roman" panose="02020603050405020304" pitchFamily="18" charset="0"/>
              </a:rPr>
              <a:t>Analysis of Algorithm &amp; Growth Functions</a:t>
            </a:r>
            <a:endParaRPr lang="en-US"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lgn="l">
              <a:lnSpc>
                <a:spcPct val="107000"/>
              </a:lnSpc>
              <a:spcBef>
                <a:spcPts val="0"/>
              </a:spcBef>
              <a:spcAft>
                <a:spcPts val="70"/>
              </a:spcAft>
              <a:buFont typeface="Symbol" panose="05050102010706020507" pitchFamily="18" charset="2"/>
              <a:buChar char=""/>
            </a:pPr>
            <a:r>
              <a:rPr lang="en-AU" sz="1800" dirty="0">
                <a:solidFill>
                  <a:srgbClr val="000000"/>
                </a:solidFill>
                <a:effectLst/>
                <a:latin typeface="Times New Roman" panose="02020603050405020304" pitchFamily="18" charset="0"/>
                <a:ea typeface="Times New Roman" panose="02020603050405020304" pitchFamily="18" charset="0"/>
              </a:rPr>
              <a:t>Merge Sort</a:t>
            </a:r>
            <a:endParaRPr lang="en-US"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lgn="l">
              <a:lnSpc>
                <a:spcPct val="107000"/>
              </a:lnSpc>
              <a:spcBef>
                <a:spcPts val="0"/>
              </a:spcBef>
              <a:spcAft>
                <a:spcPts val="70"/>
              </a:spcAft>
              <a:buFont typeface="Symbol" panose="05050102010706020507" pitchFamily="18" charset="2"/>
              <a:buChar char=""/>
            </a:pPr>
            <a:r>
              <a:rPr lang="en-AU" sz="1800" dirty="0">
                <a:solidFill>
                  <a:srgbClr val="000000"/>
                </a:solidFill>
                <a:effectLst/>
                <a:latin typeface="Times New Roman" panose="02020603050405020304" pitchFamily="18" charset="0"/>
                <a:ea typeface="Times New Roman" panose="02020603050405020304" pitchFamily="18" charset="0"/>
              </a:rPr>
              <a:t>Quick Sort</a:t>
            </a:r>
            <a:endParaRPr lang="en-US"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lgn="l">
              <a:lnSpc>
                <a:spcPct val="107000"/>
              </a:lnSpc>
              <a:spcBef>
                <a:spcPts val="0"/>
              </a:spcBef>
              <a:spcAft>
                <a:spcPts val="70"/>
              </a:spcAft>
              <a:buFont typeface="Symbol" panose="05050102010706020507" pitchFamily="18" charset="2"/>
              <a:buChar char=""/>
            </a:pPr>
            <a:r>
              <a:rPr lang="en-AU" sz="1800" dirty="0">
                <a:solidFill>
                  <a:srgbClr val="000000"/>
                </a:solidFill>
                <a:effectLst/>
                <a:latin typeface="Times New Roman" panose="02020603050405020304" pitchFamily="18" charset="0"/>
                <a:ea typeface="Times New Roman" panose="02020603050405020304" pitchFamily="18" charset="0"/>
              </a:rPr>
              <a:t>Heap Sort</a:t>
            </a:r>
            <a:endParaRPr lang="en-US"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lgn="l">
              <a:lnSpc>
                <a:spcPct val="107000"/>
              </a:lnSpc>
              <a:spcBef>
                <a:spcPts val="0"/>
              </a:spcBef>
              <a:spcAft>
                <a:spcPts val="70"/>
              </a:spcAft>
              <a:buFont typeface="Symbol" panose="05050102010706020507" pitchFamily="18" charset="2"/>
              <a:buChar char=""/>
            </a:pPr>
            <a:r>
              <a:rPr lang="en-AU" sz="1800" dirty="0">
                <a:solidFill>
                  <a:srgbClr val="000000"/>
                </a:solidFill>
                <a:effectLst/>
                <a:latin typeface="Times New Roman" panose="02020603050405020304" pitchFamily="18" charset="0"/>
                <a:ea typeface="Times New Roman" panose="02020603050405020304" pitchFamily="18" charset="0"/>
              </a:rPr>
              <a:t>Binary Search</a:t>
            </a:r>
            <a:endParaRPr lang="en-US"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lgn="l">
              <a:lnSpc>
                <a:spcPct val="107000"/>
              </a:lnSpc>
              <a:spcBef>
                <a:spcPts val="0"/>
              </a:spcBef>
              <a:spcAft>
                <a:spcPts val="70"/>
              </a:spcAft>
              <a:buFont typeface="Symbol" panose="05050102010706020507" pitchFamily="18" charset="2"/>
              <a:buChar char=""/>
            </a:pPr>
            <a:r>
              <a:rPr lang="en-AU" sz="1800" dirty="0">
                <a:solidFill>
                  <a:srgbClr val="000000"/>
                </a:solidFill>
                <a:effectLst/>
                <a:latin typeface="Times New Roman" panose="02020603050405020304" pitchFamily="18" charset="0"/>
                <a:ea typeface="Times New Roman" panose="02020603050405020304" pitchFamily="18" charset="0"/>
              </a:rPr>
              <a:t>Binary Search Tree</a:t>
            </a:r>
            <a:endParaRPr lang="en-US"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lgn="l">
              <a:lnSpc>
                <a:spcPct val="107000"/>
              </a:lnSpc>
              <a:spcBef>
                <a:spcPts val="0"/>
              </a:spcBef>
              <a:spcAft>
                <a:spcPts val="70"/>
              </a:spcAft>
              <a:buFont typeface="Symbol" panose="05050102010706020507" pitchFamily="18" charset="2"/>
              <a:buChar char=""/>
            </a:pPr>
            <a:r>
              <a:rPr lang="en-AU" sz="1800" dirty="0">
                <a:solidFill>
                  <a:srgbClr val="000000"/>
                </a:solidFill>
                <a:latin typeface="Times New Roman" panose="02020603050405020304" pitchFamily="18" charset="0"/>
                <a:ea typeface="Times New Roman" panose="02020603050405020304" pitchFamily="18" charset="0"/>
              </a:rPr>
              <a:t>Balanced Search Tree, 2-3 Tree &amp; B Tree</a:t>
            </a:r>
            <a:endParaRPr lang="en-US"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lgn="l">
              <a:lnSpc>
                <a:spcPct val="107000"/>
              </a:lnSpc>
              <a:spcBef>
                <a:spcPts val="0"/>
              </a:spcBef>
              <a:spcAft>
                <a:spcPts val="70"/>
              </a:spcAft>
              <a:buFont typeface="Symbol" panose="05050102010706020507" pitchFamily="18" charset="2"/>
              <a:buChar char=""/>
            </a:pPr>
            <a:r>
              <a:rPr lang="en-AU" sz="1800" dirty="0">
                <a:solidFill>
                  <a:srgbClr val="000000"/>
                </a:solidFill>
                <a:effectLst/>
                <a:latin typeface="Times New Roman" panose="02020603050405020304" pitchFamily="18" charset="0"/>
                <a:ea typeface="Times New Roman" panose="02020603050405020304" pitchFamily="18" charset="0"/>
              </a:rPr>
              <a:t>Hash Search, Hash table, Linear probing and Chaining</a:t>
            </a:r>
          </a:p>
          <a:p>
            <a:pPr marL="342900" marR="0" lvl="0" indent="-342900" algn="l">
              <a:lnSpc>
                <a:spcPct val="107000"/>
              </a:lnSpc>
              <a:spcBef>
                <a:spcPts val="0"/>
              </a:spcBef>
              <a:spcAft>
                <a:spcPts val="70"/>
              </a:spcAft>
              <a:buFont typeface="Symbol" panose="05050102010706020507" pitchFamily="18" charset="2"/>
              <a:buChar char=""/>
            </a:pPr>
            <a:r>
              <a:rPr lang="en-AU" sz="1800" dirty="0">
                <a:solidFill>
                  <a:srgbClr val="000000"/>
                </a:solidFill>
                <a:latin typeface="Times New Roman" panose="02020603050405020304" pitchFamily="18" charset="0"/>
                <a:ea typeface="Times New Roman" panose="02020603050405020304" pitchFamily="18" charset="0"/>
              </a:rPr>
              <a:t>Recursion</a:t>
            </a:r>
            <a:endParaRPr lang="en-US" sz="1800" dirty="0">
              <a:solidFill>
                <a:srgbClr val="000000"/>
              </a:solidFill>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52099402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C1212-1BB2-9D11-57B7-8758342AF2B1}"/>
              </a:ext>
            </a:extLst>
          </p:cNvPr>
          <p:cNvSpPr>
            <a:spLocks noGrp="1"/>
          </p:cNvSpPr>
          <p:nvPr>
            <p:ph type="title"/>
          </p:nvPr>
        </p:nvSpPr>
        <p:spPr>
          <a:xfrm>
            <a:off x="483893" y="-1563933"/>
            <a:ext cx="10515600" cy="2852737"/>
          </a:xfrm>
        </p:spPr>
        <p:txBody>
          <a:bodyPr>
            <a:normAutofit/>
          </a:bodyPr>
          <a:lstStyle/>
          <a:p>
            <a:r>
              <a:rPr lang="en-US" sz="4000" dirty="0"/>
              <a:t>Exam Instructions</a:t>
            </a:r>
          </a:p>
        </p:txBody>
      </p:sp>
      <p:sp>
        <p:nvSpPr>
          <p:cNvPr id="3" name="Text Placeholder 2">
            <a:extLst>
              <a:ext uri="{FF2B5EF4-FFF2-40B4-BE49-F238E27FC236}">
                <a16:creationId xmlns:a16="http://schemas.microsoft.com/office/drawing/2014/main" id="{77DA783C-1BA3-090E-6BA5-B9A0654E6B45}"/>
              </a:ext>
            </a:extLst>
          </p:cNvPr>
          <p:cNvSpPr>
            <a:spLocks noGrp="1"/>
          </p:cNvSpPr>
          <p:nvPr>
            <p:ph type="body" sz="quarter" idx="1"/>
          </p:nvPr>
        </p:nvSpPr>
        <p:spPr>
          <a:xfrm>
            <a:off x="427247" y="1610314"/>
            <a:ext cx="11273835" cy="4814761"/>
          </a:xfrm>
        </p:spPr>
        <p:txBody>
          <a:bodyPr>
            <a:normAutofit fontScale="92500" lnSpcReduction="10000"/>
          </a:bodyPr>
          <a:lstStyle/>
          <a:p>
            <a:pPr marL="342900" marR="0" lvl="0" indent="-342900" algn="just">
              <a:lnSpc>
                <a:spcPct val="150000"/>
              </a:lnSpc>
              <a:spcBef>
                <a:spcPts val="0"/>
              </a:spcBef>
              <a:spcAft>
                <a:spcPts val="0"/>
              </a:spcAft>
              <a:buFont typeface="Wingdings" panose="05000000000000000000" pitchFamily="2" charset="2"/>
              <a:buChar char="Ø"/>
            </a:pPr>
            <a:r>
              <a:rPr lang="en-AU" sz="20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Students should make every effort to attempt to answer all examination questions.</a:t>
            </a:r>
            <a:endParaRPr lang="en-US" sz="20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Ø"/>
            </a:pPr>
            <a:r>
              <a:rPr lang="en-AU" sz="20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Questions may be answered in any order, but each Question answered requires it to be correctly numbered in the Workbook/Worksheet provided to complete the examination. </a:t>
            </a:r>
            <a:endParaRPr lang="en-US" sz="20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Ø"/>
            </a:pPr>
            <a:r>
              <a:rPr lang="en-AU" sz="20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All Answers must be written in the Answer Booklet and be written clearly and legibly in blue or black ink.</a:t>
            </a:r>
            <a:endParaRPr lang="en-US" sz="20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Ø"/>
            </a:pPr>
            <a:r>
              <a:rPr lang="en-AU" sz="20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the end of the allocated time for the examination, the Examination Paper and Answer Booklet must be left on the desk you sat at for the examination or as instructed by the Examination Invigilator. </a:t>
            </a:r>
            <a:endParaRPr lang="en-US" sz="20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Ø"/>
            </a:pPr>
            <a:r>
              <a:rPr lang="en-AU" sz="20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Students may request the Examination Invigilator for additional writing sheets if students require them.</a:t>
            </a:r>
            <a:endParaRPr lang="en-US" sz="2000" dirty="0">
              <a:solidFill>
                <a:srgbClr val="000000"/>
              </a:solidFill>
              <a:effectLst/>
              <a:latin typeface="Times New Roman" panose="02020603050405020304" pitchFamily="18" charset="0"/>
              <a:ea typeface="Times New Roman" panose="02020603050405020304" pitchFamily="18" charset="0"/>
            </a:endParaRPr>
          </a:p>
          <a:p>
            <a:pPr marL="342900" indent="-342900" algn="just">
              <a:lnSpc>
                <a:spcPct val="150000"/>
              </a:lnSpc>
              <a:buFont typeface="Wingdings" panose="05000000000000000000" pitchFamily="2" charset="2"/>
              <a:buChar char="Ø"/>
            </a:pPr>
            <a:r>
              <a:rPr lang="en-AU" sz="2000" dirty="0">
                <a:solidFill>
                  <a:srgbClr val="000000"/>
                </a:solidFill>
                <a:latin typeface="Calibri" panose="020F0502020204030204" pitchFamily="34" charset="0"/>
                <a:cs typeface="Times New Roman" panose="02020603050405020304" pitchFamily="18" charset="0"/>
              </a:rPr>
              <a:t>If an Examination Invigilator has cause to suspect or witnesses' action by a student which is determined as academic misconduct, which may be cheating or possession of prohibited items, the student will be removed immediately from the examination room and the matter will be addressed in accordance with the Kent Academic Misconduct Policy &amp; Procedures.</a:t>
            </a:r>
            <a:endParaRPr lang="en-US" sz="2000" dirty="0">
              <a:solidFill>
                <a:srgbClr val="000000"/>
              </a:solidFill>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1137550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ED786-C3E4-4213-BC79-E490AC57370D}"/>
              </a:ext>
            </a:extLst>
          </p:cNvPr>
          <p:cNvSpPr>
            <a:spLocks noGrp="1"/>
          </p:cNvSpPr>
          <p:nvPr>
            <p:ph type="title"/>
          </p:nvPr>
        </p:nvSpPr>
        <p:spPr>
          <a:xfrm>
            <a:off x="419156" y="-1426369"/>
            <a:ext cx="10515600" cy="2852737"/>
          </a:xfrm>
        </p:spPr>
        <p:txBody>
          <a:bodyPr>
            <a:normAutofit/>
          </a:bodyPr>
          <a:lstStyle/>
          <a:p>
            <a:r>
              <a:rPr lang="en-US" sz="4000" dirty="0"/>
              <a:t>Section 1 – Short Answers – Sample Questions</a:t>
            </a:r>
          </a:p>
        </p:txBody>
      </p:sp>
      <p:sp>
        <p:nvSpPr>
          <p:cNvPr id="3" name="Text Placeholder 2">
            <a:extLst>
              <a:ext uri="{FF2B5EF4-FFF2-40B4-BE49-F238E27FC236}">
                <a16:creationId xmlns:a16="http://schemas.microsoft.com/office/drawing/2014/main" id="{DC69A8C9-0966-B323-202B-C9961B6799AC}"/>
              </a:ext>
            </a:extLst>
          </p:cNvPr>
          <p:cNvSpPr>
            <a:spLocks noGrp="1"/>
          </p:cNvSpPr>
          <p:nvPr>
            <p:ph type="body" sz="quarter" idx="1"/>
          </p:nvPr>
        </p:nvSpPr>
        <p:spPr>
          <a:xfrm>
            <a:off x="661917" y="1958273"/>
            <a:ext cx="10515600" cy="4588184"/>
          </a:xfrm>
        </p:spPr>
        <p:txBody>
          <a:bodyPr lIns="45719" tIns="45720" rIns="45719" bIns="45720" anchor="t">
            <a:normAutofit/>
          </a:bodyPr>
          <a:lstStyle/>
          <a:p>
            <a:pPr marL="342900" marR="0" lvl="0" indent="-342900" algn="l">
              <a:lnSpc>
                <a:spcPct val="150000"/>
              </a:lnSpc>
              <a:spcBef>
                <a:spcPts val="600"/>
              </a:spcBef>
              <a:spcAft>
                <a:spcPts val="600"/>
              </a:spcAft>
              <a:buFont typeface="+mj-lt"/>
              <a:buAutoNum type="arabicPeriod"/>
            </a:pPr>
            <a:r>
              <a:rPr lang="en-AU" sz="18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What is </a:t>
            </a:r>
            <a:r>
              <a:rPr lang="en-AU" sz="1800" dirty="0">
                <a:solidFill>
                  <a:srgbClr val="000000"/>
                </a:solidFill>
                <a:latin typeface="Times New Roman" panose="02020603050405020304" pitchFamily="18" charset="0"/>
                <a:ea typeface="Times New Roman" panose="02020603050405020304" pitchFamily="18" charset="0"/>
                <a:cs typeface="Calibri" panose="020F0502020204030204" pitchFamily="34" charset="0"/>
              </a:rPr>
              <a:t>Stack</a:t>
            </a:r>
            <a:r>
              <a:rPr lang="en-AU" sz="18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 Explain with example (1.5+1.5 marks)</a:t>
            </a:r>
            <a:endParaRPr lang="en-US" sz="1800" dirty="0">
              <a:solidFill>
                <a:srgbClr val="000000"/>
              </a:solidFill>
              <a:effectLst/>
              <a:latin typeface="Times New Roman" panose="02020603050405020304" pitchFamily="18" charset="0"/>
              <a:ea typeface="Times New Roman" panose="02020603050405020304" pitchFamily="18" charset="0"/>
            </a:endParaRPr>
          </a:p>
          <a:p>
            <a:pPr marL="342900" indent="-342900">
              <a:lnSpc>
                <a:spcPct val="150000"/>
              </a:lnSpc>
              <a:spcBef>
                <a:spcPts val="0"/>
              </a:spcBef>
              <a:spcAft>
                <a:spcPts val="800"/>
              </a:spcAft>
              <a:buFont typeface="+mj-lt"/>
              <a:buAutoNum type="arabicPeriod"/>
            </a:pPr>
            <a:r>
              <a:rPr lang="en-AU" sz="1800" dirty="0">
                <a:solidFill>
                  <a:srgbClr val="000000"/>
                </a:solidFill>
                <a:effectLst/>
                <a:latin typeface="Times New Roman"/>
                <a:ea typeface="Times New Roman" panose="02020603050405020304" pitchFamily="18" charset="0"/>
              </a:rPr>
              <a:t>What </a:t>
            </a:r>
            <a:r>
              <a:rPr lang="en-AU" sz="1800" dirty="0">
                <a:solidFill>
                  <a:srgbClr val="000000"/>
                </a:solidFill>
                <a:latin typeface="Times New Roman"/>
                <a:ea typeface="Times New Roman" panose="02020603050405020304" pitchFamily="18" charset="0"/>
              </a:rPr>
              <a:t>do you mean by a stable algorithm </a:t>
            </a:r>
            <a:r>
              <a:rPr lang="en-AU" sz="1800" dirty="0">
                <a:solidFill>
                  <a:srgbClr val="000000"/>
                </a:solidFill>
                <a:effectLst/>
                <a:latin typeface="Times New Roman"/>
                <a:ea typeface="Times New Roman" panose="02020603050405020304" pitchFamily="18" charset="0"/>
              </a:rPr>
              <a:t>? Explain with example (1.5+1.5 marks)</a:t>
            </a:r>
            <a:endParaRPr lang="en-US" sz="1800" dirty="0">
              <a:solidFill>
                <a:srgbClr val="000000"/>
              </a:solidFill>
              <a:effectLst/>
              <a:latin typeface="Times New Roman"/>
              <a:ea typeface="Times New Roman" panose="02020603050405020304" pitchFamily="18" charset="0"/>
            </a:endParaRPr>
          </a:p>
          <a:p>
            <a:pPr marL="342900" marR="0" lvl="0" indent="-342900" algn="l">
              <a:lnSpc>
                <a:spcPct val="150000"/>
              </a:lnSpc>
              <a:spcBef>
                <a:spcPts val="0"/>
              </a:spcBef>
              <a:spcAft>
                <a:spcPts val="800"/>
              </a:spcAft>
              <a:buFont typeface="+mj-lt"/>
              <a:buAutoNum type="arabicPeriod"/>
            </a:pPr>
            <a:r>
              <a:rPr lang="en-AU" sz="18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Explain the basic operation of insertion sort. Where can you use this sorting algorithm ?(1</a:t>
            </a:r>
            <a:r>
              <a:rPr lang="en-AU" sz="1800" dirty="0">
                <a:solidFill>
                  <a:srgbClr val="000000"/>
                </a:solidFill>
                <a:latin typeface="Times New Roman" panose="02020603050405020304" pitchFamily="18" charset="0"/>
                <a:ea typeface="Times New Roman" panose="02020603050405020304" pitchFamily="18" charset="0"/>
                <a:cs typeface="Calibri" panose="020F0502020204030204" pitchFamily="34" charset="0"/>
              </a:rPr>
              <a:t>.5+1.5</a:t>
            </a:r>
            <a:r>
              <a:rPr lang="en-AU" sz="18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 marks)</a:t>
            </a:r>
          </a:p>
          <a:p>
            <a:pPr marL="342900" marR="0" lvl="0" indent="-342900" algn="l">
              <a:lnSpc>
                <a:spcPct val="150000"/>
              </a:lnSpc>
              <a:spcBef>
                <a:spcPts val="0"/>
              </a:spcBef>
              <a:spcAft>
                <a:spcPts val="800"/>
              </a:spcAft>
              <a:buFont typeface="+mj-lt"/>
              <a:buAutoNum type="arabicPeriod"/>
            </a:pPr>
            <a:r>
              <a:rPr lang="en-AU" sz="1800" dirty="0">
                <a:solidFill>
                  <a:srgbClr val="000000"/>
                </a:solidFill>
                <a:latin typeface="Times New Roman" panose="02020603050405020304" pitchFamily="18" charset="0"/>
                <a:ea typeface="Times New Roman" panose="02020603050405020304" pitchFamily="18" charset="0"/>
                <a:cs typeface="Calibri" panose="020F0502020204030204" pitchFamily="34" charset="0"/>
              </a:rPr>
              <a:t>What is the time complexity of the quick and merge sort ? If you have limited amount of memory then, which sorting algorithm are you going to use and why ? (1.5+1.5)</a:t>
            </a:r>
            <a:endParaRPr lang="en-US" sz="1800" dirty="0">
              <a:solidFill>
                <a:srgbClr val="000000"/>
              </a:solidFill>
              <a:effectLst/>
              <a:latin typeface="Times New Roman" panose="02020603050405020304" pitchFamily="18" charset="0"/>
              <a:ea typeface="Times New Roman" panose="02020603050405020304" pitchFamily="18" charset="0"/>
            </a:endParaRPr>
          </a:p>
          <a:p>
            <a:endParaRPr lang="en-US" dirty="0">
              <a:solidFill>
                <a:srgbClr val="FF0000"/>
              </a:solidFill>
            </a:endParaRPr>
          </a:p>
        </p:txBody>
      </p:sp>
    </p:spTree>
    <p:extLst>
      <p:ext uri="{BB962C8B-B14F-4D97-AF65-F5344CB8AC3E}">
        <p14:creationId xmlns:p14="http://schemas.microsoft.com/office/powerpoint/2010/main" val="415286911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ED786-C3E4-4213-BC79-E490AC57370D}"/>
              </a:ext>
            </a:extLst>
          </p:cNvPr>
          <p:cNvSpPr>
            <a:spLocks noGrp="1"/>
          </p:cNvSpPr>
          <p:nvPr>
            <p:ph type="title"/>
          </p:nvPr>
        </p:nvSpPr>
        <p:spPr>
          <a:xfrm>
            <a:off x="341748" y="-1607997"/>
            <a:ext cx="11508504" cy="2852737"/>
          </a:xfrm>
        </p:spPr>
        <p:txBody>
          <a:bodyPr>
            <a:normAutofit/>
          </a:bodyPr>
          <a:lstStyle/>
          <a:p>
            <a:r>
              <a:rPr lang="en-US" sz="3600" dirty="0"/>
              <a:t>Section 3 –Long Questions/Answers – Sample Question</a:t>
            </a:r>
          </a:p>
        </p:txBody>
      </p:sp>
      <p:sp>
        <p:nvSpPr>
          <p:cNvPr id="3" name="Text Placeholder 2">
            <a:extLst>
              <a:ext uri="{FF2B5EF4-FFF2-40B4-BE49-F238E27FC236}">
                <a16:creationId xmlns:a16="http://schemas.microsoft.com/office/drawing/2014/main" id="{DC69A8C9-0966-B323-202B-C9961B6799AC}"/>
              </a:ext>
            </a:extLst>
          </p:cNvPr>
          <p:cNvSpPr>
            <a:spLocks noGrp="1"/>
          </p:cNvSpPr>
          <p:nvPr>
            <p:ph type="body" sz="quarter" idx="1"/>
          </p:nvPr>
        </p:nvSpPr>
        <p:spPr>
          <a:xfrm>
            <a:off x="718562" y="1788340"/>
            <a:ext cx="10515600" cy="4588184"/>
          </a:xfrm>
        </p:spPr>
        <p:txBody>
          <a:bodyPr>
            <a:normAutofit lnSpcReduction="10000"/>
          </a:bodyPr>
          <a:lstStyle/>
          <a:p>
            <a:pPr marL="457200" indent="-457200">
              <a:buAutoNum type="arabicPeriod"/>
            </a:pPr>
            <a:r>
              <a:rPr lang="en-US" dirty="0"/>
              <a:t>If you work as a Data Structure specialist for the Amazon Australia, then which algorithms are you going to use for searching and sorting of the products in warehouse ? Can you identify the variable, keys and ranges for the system that you are going to use to build the warehouse management system for Amazon Australia. </a:t>
            </a:r>
          </a:p>
          <a:p>
            <a:pPr marL="342900" marR="147955" lvl="0" indent="-342900">
              <a:lnSpc>
                <a:spcPct val="112000"/>
              </a:lnSpc>
              <a:spcBef>
                <a:spcPts val="5"/>
              </a:spcBef>
              <a:spcAft>
                <a:spcPts val="600"/>
              </a:spcAft>
              <a:buFont typeface="+mj-lt"/>
              <a:buAutoNum type="arabicPeriod"/>
              <a:tabLst>
                <a:tab pos="676275" algn="l"/>
              </a:tabLst>
            </a:pPr>
            <a:r>
              <a:rPr lang="en-AU" dirty="0">
                <a:effectLst/>
                <a:latin typeface="Calibri" panose="020F0502020204030204" pitchFamily="34" charset="0"/>
                <a:ea typeface="MS Mincho" panose="02020609040205080304" pitchFamily="49" charset="-128"/>
                <a:cs typeface="Calibri" panose="020F0502020204030204" pitchFamily="34" charset="0"/>
              </a:rPr>
              <a:t> Explain the basic algorithm for the Quick Sort. Why this sort is a in place sort?   Demonstrate the Quick sort by using keys “MYEXAMPLE”. Use the basic rules to perform the Quick sort manually. </a:t>
            </a:r>
            <a:endParaRPr lang="en-AU" dirty="0">
              <a:effectLst/>
              <a:latin typeface="Calibri" panose="020F0502020204030204" pitchFamily="34" charset="0"/>
              <a:ea typeface="MS Mincho" panose="02020609040205080304" pitchFamily="49" charset="-128"/>
              <a:cs typeface="Times New Roman" panose="02020603050405020304" pitchFamily="18" charset="0"/>
            </a:endParaRPr>
          </a:p>
          <a:p>
            <a:pPr marL="457200" indent="-457200">
              <a:buAutoNum type="arabicPeriod"/>
            </a:pPr>
            <a:r>
              <a:rPr lang="en-US" dirty="0"/>
              <a:t>Create a 2-3 tree by using following keys SEARCHQGTP. Represent that 2-3 tree by using left leaning red black BST. </a:t>
            </a:r>
          </a:p>
          <a:p>
            <a:pPr marL="457200" indent="-457200">
              <a:buAutoNum type="arabicPeriod"/>
            </a:pPr>
            <a:r>
              <a:rPr lang="en-US" dirty="0"/>
              <a:t>Create the max heap by using the following keys BESTEXAMPLE ? You can use the binary tree to represent your heap. </a:t>
            </a:r>
          </a:p>
        </p:txBody>
      </p:sp>
    </p:spTree>
    <p:extLst>
      <p:ext uri="{BB962C8B-B14F-4D97-AF65-F5344CB8AC3E}">
        <p14:creationId xmlns:p14="http://schemas.microsoft.com/office/powerpoint/2010/main" val="372119076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221AC-312B-F64C-BE0C-6F914A39898D}"/>
              </a:ext>
            </a:extLst>
          </p:cNvPr>
          <p:cNvSpPr>
            <a:spLocks noGrp="1"/>
          </p:cNvSpPr>
          <p:nvPr>
            <p:ph type="title"/>
          </p:nvPr>
        </p:nvSpPr>
        <p:spPr>
          <a:xfrm>
            <a:off x="831850" y="1709738"/>
            <a:ext cx="10515600" cy="760193"/>
          </a:xfrm>
        </p:spPr>
        <p:txBody>
          <a:bodyPr>
            <a:normAutofit fontScale="90000"/>
          </a:bodyPr>
          <a:lstStyle/>
          <a:p>
            <a:r>
              <a:rPr lang="en-US" dirty="0"/>
              <a:t>Exam Suggestions</a:t>
            </a:r>
          </a:p>
        </p:txBody>
      </p:sp>
      <p:sp>
        <p:nvSpPr>
          <p:cNvPr id="3" name="Text Placeholder 2">
            <a:extLst>
              <a:ext uri="{FF2B5EF4-FFF2-40B4-BE49-F238E27FC236}">
                <a16:creationId xmlns:a16="http://schemas.microsoft.com/office/drawing/2014/main" id="{853DA31B-9021-5C4A-A95E-0B4CD0E3EA0D}"/>
              </a:ext>
            </a:extLst>
          </p:cNvPr>
          <p:cNvSpPr>
            <a:spLocks noGrp="1"/>
          </p:cNvSpPr>
          <p:nvPr>
            <p:ph type="body" sz="quarter" idx="1"/>
          </p:nvPr>
        </p:nvSpPr>
        <p:spPr>
          <a:xfrm>
            <a:off x="831850" y="2469931"/>
            <a:ext cx="10515600" cy="3619719"/>
          </a:xfrm>
        </p:spPr>
        <p:txBody>
          <a:bodyPr/>
          <a:lstStyle/>
          <a:p>
            <a:r>
              <a:rPr lang="en-AU" dirty="0">
                <a:solidFill>
                  <a:schemeClr val="tx1"/>
                </a:solidFill>
              </a:rPr>
              <a:t>It is suggested that you will need to have a good understanding of the topics from week 1 to week 11 for Exam Preparation. This is a guideline for your preparation, not a guarantee that this topic will be covered in the exam. </a:t>
            </a:r>
          </a:p>
          <a:p>
            <a:endParaRPr lang="en-AU" dirty="0">
              <a:solidFill>
                <a:schemeClr val="tx1"/>
              </a:solidFill>
            </a:endParaRPr>
          </a:p>
          <a:p>
            <a:r>
              <a:rPr lang="en-AU" dirty="0">
                <a:solidFill>
                  <a:srgbClr val="FF0000"/>
                </a:solidFill>
              </a:rPr>
              <a:t>You should better focus on the algorithm part and demonstrate your understanding by using the keys manually. </a:t>
            </a:r>
          </a:p>
          <a:p>
            <a:endParaRPr lang="en-US" dirty="0"/>
          </a:p>
          <a:p>
            <a:r>
              <a:rPr lang="en-US" dirty="0">
                <a:solidFill>
                  <a:schemeClr val="tx1"/>
                </a:solidFill>
              </a:rPr>
              <a:t>It is better to prepare from your side by going through the weekly topics. </a:t>
            </a:r>
          </a:p>
        </p:txBody>
      </p:sp>
    </p:spTree>
    <p:extLst>
      <p:ext uri="{BB962C8B-B14F-4D97-AF65-F5344CB8AC3E}">
        <p14:creationId xmlns:p14="http://schemas.microsoft.com/office/powerpoint/2010/main" val="14441094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262D1-FD54-737E-EFD5-83C4924AE878}"/>
              </a:ext>
            </a:extLst>
          </p:cNvPr>
          <p:cNvSpPr>
            <a:spLocks noGrp="1"/>
          </p:cNvSpPr>
          <p:nvPr>
            <p:ph type="title"/>
          </p:nvPr>
        </p:nvSpPr>
        <p:spPr>
          <a:xfrm>
            <a:off x="322052" y="2632231"/>
            <a:ext cx="10515600" cy="2852737"/>
          </a:xfrm>
        </p:spPr>
        <p:txBody>
          <a:bodyPr>
            <a:normAutofit fontScale="90000"/>
          </a:bodyPr>
          <a:lstStyle/>
          <a:p>
            <a:pPr algn="ctr"/>
            <a:r>
              <a:rPr lang="en-US" dirty="0"/>
              <a:t>Wishing you all the</a:t>
            </a:r>
            <a:br>
              <a:rPr lang="en-US" dirty="0"/>
            </a:br>
            <a:br>
              <a:rPr lang="en-US" dirty="0"/>
            </a:br>
            <a:r>
              <a:rPr lang="en-US" sz="8000" dirty="0">
                <a:latin typeface="Segoe Script" panose="030B0504020000000003" pitchFamily="66" charset="0"/>
                <a:ea typeface="STXinwei" panose="020B0503020204020204" pitchFamily="2" charset="-122"/>
              </a:rPr>
              <a:t>Good Luck</a:t>
            </a:r>
            <a:br>
              <a:rPr lang="en-US" dirty="0">
                <a:latin typeface="Congenial Black" panose="020B0604020202020204" pitchFamily="2" charset="0"/>
              </a:rPr>
            </a:br>
            <a:br>
              <a:rPr lang="en-US" dirty="0"/>
            </a:br>
            <a:r>
              <a:rPr lang="en-US" dirty="0"/>
              <a:t>for your exam!</a:t>
            </a:r>
          </a:p>
        </p:txBody>
      </p:sp>
    </p:spTree>
    <p:extLst>
      <p:ext uri="{BB962C8B-B14F-4D97-AF65-F5344CB8AC3E}">
        <p14:creationId xmlns:p14="http://schemas.microsoft.com/office/powerpoint/2010/main" val="1076101504"/>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76BC"/>
        </a:solidFill>
        <a:effectLst/>
      </p:bgPr>
    </p:bg>
    <p:spTree>
      <p:nvGrpSpPr>
        <p:cNvPr id="1" name=""/>
        <p:cNvGrpSpPr/>
        <p:nvPr/>
      </p:nvGrpSpPr>
      <p:grpSpPr>
        <a:xfrm>
          <a:off x="0" y="0"/>
          <a:ext cx="0" cy="0"/>
          <a:chOff x="0" y="0"/>
          <a:chExt cx="0" cy="0"/>
        </a:xfrm>
      </p:grpSpPr>
      <p:sp>
        <p:nvSpPr>
          <p:cNvPr id="331" name="Title 8"/>
          <p:cNvSpPr txBox="1">
            <a:spLocks noGrp="1"/>
          </p:cNvSpPr>
          <p:nvPr>
            <p:ph type="title"/>
          </p:nvPr>
        </p:nvSpPr>
        <p:spPr>
          <a:xfrm>
            <a:off x="327170" y="4405745"/>
            <a:ext cx="11417418" cy="2095723"/>
          </a:xfrm>
          <a:prstGeom prst="rect">
            <a:avLst/>
          </a:prstGeom>
        </p:spPr>
        <p:txBody>
          <a:bodyPr/>
          <a:lstStyle/>
          <a:p>
            <a:pPr algn="ctr">
              <a:defRPr>
                <a:solidFill>
                  <a:srgbClr val="FFFFFF"/>
                </a:solidFill>
                <a:latin typeface="Arial Rounded MT Bold"/>
                <a:ea typeface="Arial Rounded MT Bold"/>
                <a:cs typeface="Arial Rounded MT Bold"/>
                <a:sym typeface="Arial Rounded MT Bold"/>
              </a:defRPr>
            </a:pPr>
            <a:r>
              <a:t>kent.edu.au</a:t>
            </a:r>
            <a:br/>
            <a:br/>
            <a:r>
              <a:rPr sz="1600"/>
              <a:t>Kent Institute Australia Pty. Ltd.</a:t>
            </a:r>
            <a:br>
              <a:rPr sz="1600"/>
            </a:br>
            <a:r>
              <a:rPr sz="1600"/>
              <a:t>ABN 49 003 577 302 </a:t>
            </a:r>
            <a:r>
              <a:rPr sz="1600">
                <a:latin typeface="+mn-lt"/>
                <a:ea typeface="+mn-ea"/>
                <a:cs typeface="+mn-cs"/>
                <a:sym typeface="Calibri"/>
              </a:rPr>
              <a:t>●</a:t>
            </a:r>
            <a:r>
              <a:rPr sz="1600"/>
              <a:t> CRICOS Code: 00161E </a:t>
            </a:r>
            <a:r>
              <a:rPr sz="1600">
                <a:latin typeface="+mn-lt"/>
                <a:ea typeface="+mn-ea"/>
                <a:cs typeface="+mn-cs"/>
                <a:sym typeface="Calibri"/>
              </a:rPr>
              <a:t>●</a:t>
            </a:r>
            <a:r>
              <a:rPr sz="1600"/>
              <a:t> RTO Code: 90458 </a:t>
            </a:r>
            <a:r>
              <a:rPr sz="1600">
                <a:latin typeface="+mn-lt"/>
                <a:ea typeface="+mn-ea"/>
                <a:cs typeface="+mn-cs"/>
                <a:sym typeface="Calibri"/>
              </a:rPr>
              <a:t>●</a:t>
            </a:r>
            <a:r>
              <a:rPr sz="1600"/>
              <a:t> TEQSA Provider Number: PRV12051</a:t>
            </a:r>
          </a:p>
        </p:txBody>
      </p:sp>
      <p:pic>
        <p:nvPicPr>
          <p:cNvPr id="333" name="Picture 2" descr="Picture 2"/>
          <p:cNvPicPr>
            <a:picLocks noChangeAspect="1"/>
          </p:cNvPicPr>
          <p:nvPr/>
        </p:nvPicPr>
        <p:blipFill>
          <a:blip r:embed="rId2"/>
          <a:stretch>
            <a:fillRect/>
          </a:stretch>
        </p:blipFill>
        <p:spPr>
          <a:xfrm>
            <a:off x="3195779" y="874229"/>
            <a:ext cx="5569529" cy="3354910"/>
          </a:xfrm>
          <a:prstGeom prst="rect">
            <a:avLst/>
          </a:prstGeom>
          <a:ln w="12700">
            <a:miter lim="400000"/>
          </a:ln>
        </p:spPr>
      </p:pic>
    </p:spTree>
  </p:cSld>
  <p:clrMapOvr>
    <a:masterClrMapping/>
  </p:clrMapOvr>
  <p:transition spd="med"/>
</p:sld>
</file>

<file path=ppt/theme/theme1.xml><?xml version="1.0" encoding="utf-8"?>
<a:theme xmlns:a="http://schemas.openxmlformats.org/drawingml/2006/main" name="Kent Powerpoint Template (final)">
  <a:themeElements>
    <a:clrScheme name="Kent Powerpoint Template (final)">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Kent Powerpoint Template (final)">
      <a:majorFont>
        <a:latin typeface="Helvetica"/>
        <a:ea typeface="Helvetica"/>
        <a:cs typeface="Helvetica"/>
      </a:majorFont>
      <a:minorFont>
        <a:latin typeface="Calibri"/>
        <a:ea typeface="Calibri"/>
        <a:cs typeface="Calibri"/>
      </a:minorFont>
    </a:fontScheme>
    <a:fmtScheme name="Kent Powerpoint Template (fin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Kent Powerpoint Template (final)">
  <a:themeElements>
    <a:clrScheme name="Kent Powerpoint Template (final)">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Kent Powerpoint Template (final)">
      <a:majorFont>
        <a:latin typeface="Helvetica"/>
        <a:ea typeface="Helvetica"/>
        <a:cs typeface="Helvetica"/>
      </a:majorFont>
      <a:minorFont>
        <a:latin typeface="Calibri"/>
        <a:ea typeface="Calibri"/>
        <a:cs typeface="Calibri"/>
      </a:minorFont>
    </a:fontScheme>
    <a:fmtScheme name="Kent Powerpoint Template (fin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439</TotalTime>
  <Words>924</Words>
  <Application>Microsoft Office PowerPoint</Application>
  <PresentationFormat>Widescreen</PresentationFormat>
  <Paragraphs>81</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Kent Powerpoint Template (final)</vt:lpstr>
      <vt:lpstr>PowerPoint Presentation</vt:lpstr>
      <vt:lpstr>Final Exam details – Data Structure &amp; Algorithm</vt:lpstr>
      <vt:lpstr>Final Exam Marks and weightage</vt:lpstr>
      <vt:lpstr>Final Exam Format</vt:lpstr>
      <vt:lpstr>Final Exam Format</vt:lpstr>
      <vt:lpstr>Important Topics</vt:lpstr>
      <vt:lpstr>Exam Instructions</vt:lpstr>
      <vt:lpstr>Section 1 – Short Answers – Sample Questions</vt:lpstr>
      <vt:lpstr>Section 3 –Long Questions/Answers – Sample Question</vt:lpstr>
      <vt:lpstr>Exam Suggestions</vt:lpstr>
      <vt:lpstr>Wishing you all the  Good Luck  for your exam!</vt:lpstr>
      <vt:lpstr>kent.edu.au  Kent Institute Australia Pty. Ltd. ABN 49 003 577 302 ● CRICOS Code: 00161E ● RTO Code: 90458 ● TEQSA Provider Number: PRV12051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Kent Institute Australia</dc:creator>
  <cp:lastModifiedBy>Anchal Kr SHRESTHA</cp:lastModifiedBy>
  <cp:revision>64</cp:revision>
  <dcterms:modified xsi:type="dcterms:W3CDTF">2025-09-29T00:09:49Z</dcterms:modified>
</cp:coreProperties>
</file>