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59" r:id="rId5"/>
    <p:sldId id="262" r:id="rId6"/>
    <p:sldId id="261" r:id="rId7"/>
    <p:sldId id="263" r:id="rId8"/>
    <p:sldId id="267" r:id="rId9"/>
    <p:sldId id="264" r:id="rId10"/>
    <p:sldId id="266" r:id="rId11"/>
    <p:sldId id="265" r:id="rId12"/>
    <p:sldId id="268" r:id="rId13"/>
    <p:sldId id="269" r:id="rId14"/>
    <p:sldId id="270" r:id="rId15"/>
    <p:sldId id="271" r:id="rId16"/>
    <p:sldId id="277" r:id="rId17"/>
    <p:sldId id="272" r:id="rId18"/>
    <p:sldId id="273" r:id="rId19"/>
    <p:sldId id="275" r:id="rId20"/>
    <p:sldId id="274" r:id="rId21"/>
    <p:sldId id="276" r:id="rId22"/>
    <p:sldId id="279"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1032" autoAdjust="0"/>
  </p:normalViewPr>
  <p:slideViewPr>
    <p:cSldViewPr snapToGrid="0">
      <p:cViewPr varScale="1">
        <p:scale>
          <a:sx n="86" d="100"/>
          <a:sy n="86" d="100"/>
        </p:scale>
        <p:origin x="147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A892B0-78EC-4B86-AEE0-4505E613B481}" type="datetimeFigureOut">
              <a:rPr lang="en-US" smtClean="0"/>
              <a:t>27-May-25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62AC4-B930-46D8-BFE5-87BE675D146C}" type="slidenum">
              <a:rPr lang="en-US" smtClean="0"/>
              <a:t>‹#›</a:t>
            </a:fld>
            <a:endParaRPr lang="en-US"/>
          </a:p>
        </p:txBody>
      </p:sp>
    </p:spTree>
    <p:extLst>
      <p:ext uri="{BB962C8B-B14F-4D97-AF65-F5344CB8AC3E}">
        <p14:creationId xmlns:p14="http://schemas.microsoft.com/office/powerpoint/2010/main" val="252078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do insert, search and delete efficiently?</a:t>
            </a:r>
          </a:p>
          <a:p>
            <a:endParaRPr lang="en-US" dirty="0"/>
          </a:p>
        </p:txBody>
      </p:sp>
      <p:sp>
        <p:nvSpPr>
          <p:cNvPr id="4" name="Slide Number Placeholder 3"/>
          <p:cNvSpPr>
            <a:spLocks noGrp="1"/>
          </p:cNvSpPr>
          <p:nvPr>
            <p:ph type="sldNum" sz="quarter" idx="5"/>
          </p:nvPr>
        </p:nvSpPr>
        <p:spPr/>
        <p:txBody>
          <a:bodyPr/>
          <a:lstStyle/>
          <a:p>
            <a:fld id="{66A62AC4-B930-46D8-BFE5-87BE675D146C}" type="slidenum">
              <a:rPr lang="en-US" smtClean="0"/>
              <a:t>3</a:t>
            </a:fld>
            <a:endParaRPr lang="en-US"/>
          </a:p>
        </p:txBody>
      </p:sp>
    </p:spTree>
    <p:extLst>
      <p:ext uri="{BB962C8B-B14F-4D97-AF65-F5344CB8AC3E}">
        <p14:creationId xmlns:p14="http://schemas.microsoft.com/office/powerpoint/2010/main" val="315538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Issues:</a:t>
            </a:r>
          </a:p>
          <a:p>
            <a:r>
              <a:rPr lang="en-US" dirty="0"/>
              <a:t>Because is unbounded (unlimited) so its not good so size of table is big</a:t>
            </a:r>
          </a:p>
          <a:p>
            <a:r>
              <a:rPr lang="en-US" dirty="0"/>
              <a:t>The integer variable number we want to save be really big so we cant store that huge number in integer</a:t>
            </a:r>
          </a:p>
          <a:p>
            <a:endParaRPr lang="en-US" dirty="0"/>
          </a:p>
        </p:txBody>
      </p:sp>
      <p:sp>
        <p:nvSpPr>
          <p:cNvPr id="4" name="Slide Number Placeholder 3"/>
          <p:cNvSpPr>
            <a:spLocks noGrp="1"/>
          </p:cNvSpPr>
          <p:nvPr>
            <p:ph type="sldNum" sz="quarter" idx="5"/>
          </p:nvPr>
        </p:nvSpPr>
        <p:spPr/>
        <p:txBody>
          <a:bodyPr/>
          <a:lstStyle/>
          <a:p>
            <a:fld id="{66A62AC4-B930-46D8-BFE5-87BE675D146C}" type="slidenum">
              <a:rPr lang="en-US" smtClean="0"/>
              <a:t>6</a:t>
            </a:fld>
            <a:endParaRPr lang="en-US"/>
          </a:p>
        </p:txBody>
      </p:sp>
    </p:spTree>
    <p:extLst>
      <p:ext uri="{BB962C8B-B14F-4D97-AF65-F5344CB8AC3E}">
        <p14:creationId xmlns:p14="http://schemas.microsoft.com/office/powerpoint/2010/main" val="1729139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is the size of pointer to the record</a:t>
            </a:r>
          </a:p>
          <a:p>
            <a:r>
              <a:rPr lang="en-US" dirty="0"/>
              <a:t>N are the digits in telephone number</a:t>
            </a:r>
          </a:p>
        </p:txBody>
      </p:sp>
      <p:sp>
        <p:nvSpPr>
          <p:cNvPr id="4" name="Slide Number Placeholder 3"/>
          <p:cNvSpPr>
            <a:spLocks noGrp="1"/>
          </p:cNvSpPr>
          <p:nvPr>
            <p:ph type="sldNum" sz="quarter" idx="5"/>
          </p:nvPr>
        </p:nvSpPr>
        <p:spPr/>
        <p:txBody>
          <a:bodyPr/>
          <a:lstStyle/>
          <a:p>
            <a:fld id="{66A62AC4-B930-46D8-BFE5-87BE675D146C}" type="slidenum">
              <a:rPr lang="en-US" smtClean="0"/>
              <a:t>7</a:t>
            </a:fld>
            <a:endParaRPr lang="en-US"/>
          </a:p>
        </p:txBody>
      </p:sp>
    </p:spTree>
    <p:extLst>
      <p:ext uri="{BB962C8B-B14F-4D97-AF65-F5344CB8AC3E}">
        <p14:creationId xmlns:p14="http://schemas.microsoft.com/office/powerpoint/2010/main" val="3174613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 factor is average numbers of keys per plot, assuming each key is equally likely to be hashed to any slot of the table, independent of where other keys are hashed</a:t>
            </a:r>
          </a:p>
          <a:p>
            <a:endParaRPr lang="en-US" dirty="0"/>
          </a:p>
          <a:p>
            <a:r>
              <a:rPr lang="en-US" dirty="0" err="1"/>
              <a:t>BigO</a:t>
            </a:r>
            <a:r>
              <a:rPr lang="en-US" dirty="0"/>
              <a:t>:</a:t>
            </a:r>
          </a:p>
          <a:p>
            <a:r>
              <a:rPr lang="en-US" dirty="0"/>
              <a:t>1 is to apply has function and alpha to go through the list</a:t>
            </a:r>
          </a:p>
        </p:txBody>
      </p:sp>
      <p:sp>
        <p:nvSpPr>
          <p:cNvPr id="4" name="Slide Number Placeholder 3"/>
          <p:cNvSpPr>
            <a:spLocks noGrp="1"/>
          </p:cNvSpPr>
          <p:nvPr>
            <p:ph type="sldNum" sz="quarter" idx="5"/>
          </p:nvPr>
        </p:nvSpPr>
        <p:spPr/>
        <p:txBody>
          <a:bodyPr/>
          <a:lstStyle/>
          <a:p>
            <a:fld id="{66A62AC4-B930-46D8-BFE5-87BE675D146C}" type="slidenum">
              <a:rPr lang="en-US" smtClean="0"/>
              <a:t>15</a:t>
            </a:fld>
            <a:endParaRPr lang="en-US"/>
          </a:p>
        </p:txBody>
      </p:sp>
    </p:spTree>
    <p:extLst>
      <p:ext uri="{BB962C8B-B14F-4D97-AF65-F5344CB8AC3E}">
        <p14:creationId xmlns:p14="http://schemas.microsoft.com/office/powerpoint/2010/main" val="2259689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search until we find the value, or we find an empty slot</a:t>
            </a:r>
          </a:p>
        </p:txBody>
      </p:sp>
      <p:sp>
        <p:nvSpPr>
          <p:cNvPr id="4" name="Slide Number Placeholder 3"/>
          <p:cNvSpPr>
            <a:spLocks noGrp="1"/>
          </p:cNvSpPr>
          <p:nvPr>
            <p:ph type="sldNum" sz="quarter" idx="5"/>
          </p:nvPr>
        </p:nvSpPr>
        <p:spPr/>
        <p:txBody>
          <a:bodyPr/>
          <a:lstStyle/>
          <a:p>
            <a:fld id="{66A62AC4-B930-46D8-BFE5-87BE675D146C}" type="slidenum">
              <a:rPr lang="en-US" smtClean="0"/>
              <a:t>22</a:t>
            </a:fld>
            <a:endParaRPr lang="en-US"/>
          </a:p>
        </p:txBody>
      </p:sp>
    </p:spTree>
    <p:extLst>
      <p:ext uri="{BB962C8B-B14F-4D97-AF65-F5344CB8AC3E}">
        <p14:creationId xmlns:p14="http://schemas.microsoft.com/office/powerpoint/2010/main" val="3819148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simply delete the key, the search will fail -&gt; so when we delete, we mark it as delete</a:t>
            </a:r>
          </a:p>
        </p:txBody>
      </p:sp>
      <p:sp>
        <p:nvSpPr>
          <p:cNvPr id="4" name="Slide Number Placeholder 3"/>
          <p:cNvSpPr>
            <a:spLocks noGrp="1"/>
          </p:cNvSpPr>
          <p:nvPr>
            <p:ph type="sldNum" sz="quarter" idx="5"/>
          </p:nvPr>
        </p:nvSpPr>
        <p:spPr/>
        <p:txBody>
          <a:bodyPr/>
          <a:lstStyle/>
          <a:p>
            <a:fld id="{66A62AC4-B930-46D8-BFE5-87BE675D146C}" type="slidenum">
              <a:rPr lang="en-US" smtClean="0"/>
              <a:t>23</a:t>
            </a:fld>
            <a:endParaRPr lang="en-US"/>
          </a:p>
        </p:txBody>
      </p:sp>
    </p:spTree>
    <p:extLst>
      <p:ext uri="{BB962C8B-B14F-4D97-AF65-F5344CB8AC3E}">
        <p14:creationId xmlns:p14="http://schemas.microsoft.com/office/powerpoint/2010/main" val="1489925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72237-47F9-AEC9-827F-4F604E4875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515F703-B30B-1AE3-887A-2E32ACB203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6120D0-6B4A-8C80-DFDC-160646DF2CC5}"/>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5" name="Footer Placeholder 4">
            <a:extLst>
              <a:ext uri="{FF2B5EF4-FFF2-40B4-BE49-F238E27FC236}">
                <a16:creationId xmlns:a16="http://schemas.microsoft.com/office/drawing/2014/main" id="{80F37AFA-CC5E-2DC8-8930-04B0B51FA0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5F1598-3B97-819D-212D-98987511C617}"/>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2294090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7F4BD-91F8-B6A1-6387-C2FA03FE83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85084F-35C2-EB2E-A8B1-382423A8FB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10750-D4DC-6F04-D722-4CEAE998DD98}"/>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5" name="Footer Placeholder 4">
            <a:extLst>
              <a:ext uri="{FF2B5EF4-FFF2-40B4-BE49-F238E27FC236}">
                <a16:creationId xmlns:a16="http://schemas.microsoft.com/office/drawing/2014/main" id="{0D0C1EBB-F6AF-BE34-E921-D9E922211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48809E-0A58-DA24-8630-683C217EDD75}"/>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3850225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F36E1-F6F0-BDC9-093D-D4D606D792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95AA85-68E3-9D71-7F41-E03585CB0E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484A88-7E16-2D9C-937E-A173376814CE}"/>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5" name="Footer Placeholder 4">
            <a:extLst>
              <a:ext uri="{FF2B5EF4-FFF2-40B4-BE49-F238E27FC236}">
                <a16:creationId xmlns:a16="http://schemas.microsoft.com/office/drawing/2014/main" id="{F7A95670-74B4-ECED-E86B-6A52A9A994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7C515A-9734-7701-A5BF-48D07511D9D9}"/>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3232444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D035A-807A-A148-F58E-593ECD043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EAC303-930C-3A95-4CAF-158DEAB24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6FD7B6-93E2-0FA2-BA56-72C080D069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C90A22-9997-D505-9F0A-B01CDA1B8B62}"/>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6" name="Footer Placeholder 5">
            <a:extLst>
              <a:ext uri="{FF2B5EF4-FFF2-40B4-BE49-F238E27FC236}">
                <a16:creationId xmlns:a16="http://schemas.microsoft.com/office/drawing/2014/main" id="{C715A5F4-24A5-0959-AE06-8953D75D0E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D4051-37EF-C0CF-0460-B85CE6928108}"/>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3548906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C3115-FD16-A611-B32E-669F1A0B6EF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91FDB3-473B-2772-F31C-004A69DCAE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A7D48A-EC5F-44E8-CDF0-2A64395DA7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8B49DD-9363-25CA-3258-A6CF890909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C75398-32F5-CE49-F3CE-55E124FCC5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FA6074-6D6A-DCCA-5A57-79EEC6FA7C07}"/>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8" name="Footer Placeholder 7">
            <a:extLst>
              <a:ext uri="{FF2B5EF4-FFF2-40B4-BE49-F238E27FC236}">
                <a16:creationId xmlns:a16="http://schemas.microsoft.com/office/drawing/2014/main" id="{943BB8E4-B149-F008-202A-5C9A4547CB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FD751F-0AF1-2E4F-4282-CB78EA33B16F}"/>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1637687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01EAF-5280-6888-5045-AB3EDDC938A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767318-E2C7-AD20-F7F2-5340C8AF725A}"/>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4" name="Footer Placeholder 3">
            <a:extLst>
              <a:ext uri="{FF2B5EF4-FFF2-40B4-BE49-F238E27FC236}">
                <a16:creationId xmlns:a16="http://schemas.microsoft.com/office/drawing/2014/main" id="{9AC2BB3A-24BE-32F7-BBC0-2D81C82564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7429D7-BF7F-D368-D164-E2F295BA8188}"/>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152848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3E89A2-111B-D062-D336-B610D37B15D0}"/>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3" name="Footer Placeholder 2">
            <a:extLst>
              <a:ext uri="{FF2B5EF4-FFF2-40B4-BE49-F238E27FC236}">
                <a16:creationId xmlns:a16="http://schemas.microsoft.com/office/drawing/2014/main" id="{16502AA9-B243-8618-BB5F-4D2A0C65F2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04AD1A4-BD05-3CCA-7878-5991006C8413}"/>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263068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FB925-1583-83F1-FBB3-50DA2CA13C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65D674-912F-04D5-D0AF-072867524F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C64801-9DFA-3603-4E2C-4B6E994F5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C3574-285C-25F6-5DB0-E6C98684C24D}"/>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6" name="Footer Placeholder 5">
            <a:extLst>
              <a:ext uri="{FF2B5EF4-FFF2-40B4-BE49-F238E27FC236}">
                <a16:creationId xmlns:a16="http://schemas.microsoft.com/office/drawing/2014/main" id="{58AB41C5-0A48-F456-DF37-DDBBD357F5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B48D29-41C8-51EF-B4B5-A05D8B9450EF}"/>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2691381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63DFB-85AB-7A1B-B06C-685038EB2C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BBE57D-1763-9BD2-E970-29DF6FAE9F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6F71253-8833-3B16-4D56-25987124EC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1E4EE3-6805-C9BB-C64F-D42FACBD80F7}"/>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6" name="Footer Placeholder 5">
            <a:extLst>
              <a:ext uri="{FF2B5EF4-FFF2-40B4-BE49-F238E27FC236}">
                <a16:creationId xmlns:a16="http://schemas.microsoft.com/office/drawing/2014/main" id="{A6021CD6-A605-B144-0AF1-08BCA7A6EF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ED1E9B-1C68-A81B-26BE-58BB3AA39708}"/>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4039530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63F76-C09E-5459-3487-532094A1920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542806-C57D-FD02-B90C-728D242FCD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75AA56-F27B-E51D-953F-AF87FB95474B}"/>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5" name="Footer Placeholder 4">
            <a:extLst>
              <a:ext uri="{FF2B5EF4-FFF2-40B4-BE49-F238E27FC236}">
                <a16:creationId xmlns:a16="http://schemas.microsoft.com/office/drawing/2014/main" id="{362AC0B2-6D08-C55F-084E-8DE78935F4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D229CD-2472-288E-7538-EA93A6B84F98}"/>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166730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BC7347-7ABB-6376-5BD7-CDC0A86121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6F3DAD-B70B-1968-E11F-B8E741E3D5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0F14A0-5682-86AA-6FF7-391CA9C1E023}"/>
              </a:ext>
            </a:extLst>
          </p:cNvPr>
          <p:cNvSpPr>
            <a:spLocks noGrp="1"/>
          </p:cNvSpPr>
          <p:nvPr>
            <p:ph type="dt" sz="half" idx="10"/>
          </p:nvPr>
        </p:nvSpPr>
        <p:spPr/>
        <p:txBody>
          <a:bodyPr/>
          <a:lstStyle/>
          <a:p>
            <a:fld id="{B3A666DE-464F-4F20-9426-3681EA67FF35}" type="datetimeFigureOut">
              <a:rPr lang="en-US" smtClean="0"/>
              <a:t>27-May-25</a:t>
            </a:fld>
            <a:endParaRPr lang="en-US"/>
          </a:p>
        </p:txBody>
      </p:sp>
      <p:sp>
        <p:nvSpPr>
          <p:cNvPr id="5" name="Footer Placeholder 4">
            <a:extLst>
              <a:ext uri="{FF2B5EF4-FFF2-40B4-BE49-F238E27FC236}">
                <a16:creationId xmlns:a16="http://schemas.microsoft.com/office/drawing/2014/main" id="{8AF27159-EEE2-FDC4-316C-B731633C7C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8A09D-24FD-E494-ABEB-015642E9DFA7}"/>
              </a:ext>
            </a:extLst>
          </p:cNvPr>
          <p:cNvSpPr>
            <a:spLocks noGrp="1"/>
          </p:cNvSpPr>
          <p:nvPr>
            <p:ph type="sldNum" sz="quarter" idx="12"/>
          </p:nvPr>
        </p:nvSpPr>
        <p:spPr/>
        <p:txBody>
          <a:bodyPr/>
          <a:lstStyle/>
          <a:p>
            <a:fld id="{73058A5F-DB1C-4254-966C-861C728B6575}" type="slidenum">
              <a:rPr lang="en-US" smtClean="0"/>
              <a:t>‹#›</a:t>
            </a:fld>
            <a:endParaRPr lang="en-US"/>
          </a:p>
        </p:txBody>
      </p:sp>
    </p:spTree>
    <p:extLst>
      <p:ext uri="{BB962C8B-B14F-4D97-AF65-F5344CB8AC3E}">
        <p14:creationId xmlns:p14="http://schemas.microsoft.com/office/powerpoint/2010/main" val="4068471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9DAD6D-004E-50AC-33C4-5E46E5A67C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D0DB3D-3DA8-C535-5E93-C6692E9C90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F5E52C-26C9-6C4D-AF82-79E1FE7F9D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A666DE-464F-4F20-9426-3681EA67FF35}" type="datetimeFigureOut">
              <a:rPr lang="en-US" smtClean="0"/>
              <a:t>27-May-25</a:t>
            </a:fld>
            <a:endParaRPr lang="en-US"/>
          </a:p>
        </p:txBody>
      </p:sp>
      <p:sp>
        <p:nvSpPr>
          <p:cNvPr id="5" name="Footer Placeholder 4">
            <a:extLst>
              <a:ext uri="{FF2B5EF4-FFF2-40B4-BE49-F238E27FC236}">
                <a16:creationId xmlns:a16="http://schemas.microsoft.com/office/drawing/2014/main" id="{F8C7D250-A110-3CB7-21A1-8B193D2BA8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F06E0A-1D2D-6625-6087-0297A2164B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058A5F-DB1C-4254-966C-861C728B6575}" type="slidenum">
              <a:rPr lang="en-US" smtClean="0"/>
              <a:t>‹#›</a:t>
            </a:fld>
            <a:endParaRPr lang="en-US"/>
          </a:p>
        </p:txBody>
      </p:sp>
    </p:spTree>
    <p:extLst>
      <p:ext uri="{BB962C8B-B14F-4D97-AF65-F5344CB8AC3E}">
        <p14:creationId xmlns:p14="http://schemas.microsoft.com/office/powerpoint/2010/main" val="3364753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CF5EE-2E6B-E71D-10C0-534CCE96F404}"/>
              </a:ext>
            </a:extLst>
          </p:cNvPr>
          <p:cNvSpPr>
            <a:spLocks noGrp="1"/>
          </p:cNvSpPr>
          <p:nvPr>
            <p:ph type="ctrTitle"/>
          </p:nvPr>
        </p:nvSpPr>
        <p:spPr/>
        <p:txBody>
          <a:bodyPr/>
          <a:lstStyle/>
          <a:p>
            <a:r>
              <a:rPr lang="en-US" dirty="0"/>
              <a:t>Hash Tables</a:t>
            </a:r>
          </a:p>
        </p:txBody>
      </p:sp>
      <p:sp>
        <p:nvSpPr>
          <p:cNvPr id="3" name="Subtitle 2">
            <a:extLst>
              <a:ext uri="{FF2B5EF4-FFF2-40B4-BE49-F238E27FC236}">
                <a16:creationId xmlns:a16="http://schemas.microsoft.com/office/drawing/2014/main" id="{D75DE0D9-037E-1A8B-D634-E607B7FC8A8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7516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62C4-E37F-7E45-F89B-34DBA58EA305}"/>
              </a:ext>
            </a:extLst>
          </p:cNvPr>
          <p:cNvSpPr>
            <a:spLocks noGrp="1"/>
          </p:cNvSpPr>
          <p:nvPr>
            <p:ph type="title"/>
          </p:nvPr>
        </p:nvSpPr>
        <p:spPr/>
        <p:txBody>
          <a:bodyPr/>
          <a:lstStyle/>
          <a:p>
            <a:r>
              <a:rPr lang="en-US" dirty="0"/>
              <a:t>Key Terms</a:t>
            </a:r>
          </a:p>
        </p:txBody>
      </p:sp>
      <p:sp>
        <p:nvSpPr>
          <p:cNvPr id="3" name="Content Placeholder 2">
            <a:extLst>
              <a:ext uri="{FF2B5EF4-FFF2-40B4-BE49-F238E27FC236}">
                <a16:creationId xmlns:a16="http://schemas.microsoft.com/office/drawing/2014/main" id="{CC8655DF-33CB-FEDE-4C30-0636420AC1E5}"/>
              </a:ext>
            </a:extLst>
          </p:cNvPr>
          <p:cNvSpPr>
            <a:spLocks noGrp="1"/>
          </p:cNvSpPr>
          <p:nvPr>
            <p:ph idx="1"/>
          </p:nvPr>
        </p:nvSpPr>
        <p:spPr/>
        <p:txBody>
          <a:bodyPr/>
          <a:lstStyle/>
          <a:p>
            <a:r>
              <a:rPr lang="en-US" dirty="0"/>
              <a:t>Hash functions</a:t>
            </a:r>
          </a:p>
          <a:p>
            <a:pPr lvl="1"/>
            <a:r>
              <a:rPr lang="en-US" dirty="0"/>
              <a:t>Modular </a:t>
            </a:r>
            <a:r>
              <a:rPr lang="en-US" dirty="0" err="1"/>
              <a:t>etc</a:t>
            </a:r>
            <a:endParaRPr lang="en-US" dirty="0"/>
          </a:p>
          <a:p>
            <a:r>
              <a:rPr lang="en-US" dirty="0"/>
              <a:t>Hash codes (Values generated from Hash functions)</a:t>
            </a:r>
          </a:p>
          <a:p>
            <a:r>
              <a:rPr lang="en-US" dirty="0"/>
              <a:t>Collision Solving Techniques</a:t>
            </a:r>
          </a:p>
          <a:p>
            <a:pPr lvl="1"/>
            <a:r>
              <a:rPr lang="en-US" dirty="0"/>
              <a:t>separate chaining</a:t>
            </a:r>
          </a:p>
          <a:p>
            <a:pPr lvl="1"/>
            <a:r>
              <a:rPr lang="en-US" dirty="0"/>
              <a:t>Open addressing </a:t>
            </a:r>
          </a:p>
          <a:p>
            <a:pPr lvl="2"/>
            <a:r>
              <a:rPr lang="en-US" dirty="0"/>
              <a:t>Linear probing</a:t>
            </a:r>
          </a:p>
          <a:p>
            <a:endParaRPr lang="en-US" dirty="0"/>
          </a:p>
        </p:txBody>
      </p:sp>
    </p:spTree>
    <p:extLst>
      <p:ext uri="{BB962C8B-B14F-4D97-AF65-F5344CB8AC3E}">
        <p14:creationId xmlns:p14="http://schemas.microsoft.com/office/powerpoint/2010/main" val="2001773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70546-674D-20E9-477B-7427982605D0}"/>
              </a:ext>
            </a:extLst>
          </p:cNvPr>
          <p:cNvSpPr>
            <a:spLocks noGrp="1"/>
          </p:cNvSpPr>
          <p:nvPr>
            <p:ph type="title"/>
          </p:nvPr>
        </p:nvSpPr>
        <p:spPr/>
        <p:txBody>
          <a:bodyPr/>
          <a:lstStyle/>
          <a:p>
            <a:r>
              <a:rPr lang="en-US" dirty="0"/>
              <a:t>Problem</a:t>
            </a:r>
          </a:p>
        </p:txBody>
      </p:sp>
      <p:pic>
        <p:nvPicPr>
          <p:cNvPr id="5" name="Content Placeholder 4">
            <a:extLst>
              <a:ext uri="{FF2B5EF4-FFF2-40B4-BE49-F238E27FC236}">
                <a16:creationId xmlns:a16="http://schemas.microsoft.com/office/drawing/2014/main" id="{73BF2D3B-98B0-EB39-CD11-77C4ECDD3FD5}"/>
              </a:ext>
            </a:extLst>
          </p:cNvPr>
          <p:cNvPicPr>
            <a:picLocks noGrp="1" noChangeAspect="1"/>
          </p:cNvPicPr>
          <p:nvPr>
            <p:ph idx="1"/>
          </p:nvPr>
        </p:nvPicPr>
        <p:blipFill>
          <a:blip r:embed="rId3"/>
          <a:stretch>
            <a:fillRect/>
          </a:stretch>
        </p:blipFill>
        <p:spPr>
          <a:xfrm>
            <a:off x="1429763" y="1825625"/>
            <a:ext cx="9332474" cy="4351338"/>
          </a:xfrm>
        </p:spPr>
      </p:pic>
    </p:spTree>
    <p:extLst>
      <p:ext uri="{BB962C8B-B14F-4D97-AF65-F5344CB8AC3E}">
        <p14:creationId xmlns:p14="http://schemas.microsoft.com/office/powerpoint/2010/main" val="141924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2CDAA-8C9A-81CA-30E4-7C07394D95F8}"/>
              </a:ext>
            </a:extLst>
          </p:cNvPr>
          <p:cNvSpPr>
            <a:spLocks noGrp="1"/>
          </p:cNvSpPr>
          <p:nvPr>
            <p:ph type="title"/>
          </p:nvPr>
        </p:nvSpPr>
        <p:spPr/>
        <p:txBody>
          <a:bodyPr/>
          <a:lstStyle/>
          <a:p>
            <a:r>
              <a:rPr lang="en-US" dirty="0"/>
              <a:t>Solutions</a:t>
            </a:r>
          </a:p>
        </p:txBody>
      </p:sp>
      <p:pic>
        <p:nvPicPr>
          <p:cNvPr id="5" name="Content Placeholder 4">
            <a:extLst>
              <a:ext uri="{FF2B5EF4-FFF2-40B4-BE49-F238E27FC236}">
                <a16:creationId xmlns:a16="http://schemas.microsoft.com/office/drawing/2014/main" id="{D546C37F-0245-1B44-28CE-94F2DADAB382}"/>
              </a:ext>
            </a:extLst>
          </p:cNvPr>
          <p:cNvPicPr>
            <a:picLocks noGrp="1" noChangeAspect="1"/>
          </p:cNvPicPr>
          <p:nvPr>
            <p:ph idx="1"/>
          </p:nvPr>
        </p:nvPicPr>
        <p:blipFill>
          <a:blip r:embed="rId2"/>
          <a:stretch>
            <a:fillRect/>
          </a:stretch>
        </p:blipFill>
        <p:spPr>
          <a:xfrm>
            <a:off x="1362740" y="1825625"/>
            <a:ext cx="9466520" cy="4351338"/>
          </a:xfrm>
        </p:spPr>
      </p:pic>
    </p:spTree>
    <p:extLst>
      <p:ext uri="{BB962C8B-B14F-4D97-AF65-F5344CB8AC3E}">
        <p14:creationId xmlns:p14="http://schemas.microsoft.com/office/powerpoint/2010/main" val="3538512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D0B42-281B-9F6F-F380-255D2DA9D2DB}"/>
              </a:ext>
            </a:extLst>
          </p:cNvPr>
          <p:cNvSpPr>
            <a:spLocks noGrp="1"/>
          </p:cNvSpPr>
          <p:nvPr>
            <p:ph type="title"/>
          </p:nvPr>
        </p:nvSpPr>
        <p:spPr/>
        <p:txBody>
          <a:bodyPr/>
          <a:lstStyle/>
          <a:p>
            <a:r>
              <a:rPr lang="en-US" dirty="0"/>
              <a:t>Solutions</a:t>
            </a:r>
          </a:p>
        </p:txBody>
      </p:sp>
      <p:pic>
        <p:nvPicPr>
          <p:cNvPr id="4" name="Content Placeholder 4">
            <a:extLst>
              <a:ext uri="{FF2B5EF4-FFF2-40B4-BE49-F238E27FC236}">
                <a16:creationId xmlns:a16="http://schemas.microsoft.com/office/drawing/2014/main" id="{5D87A823-6E4A-CD06-960B-AF9357637275}"/>
              </a:ext>
            </a:extLst>
          </p:cNvPr>
          <p:cNvPicPr>
            <a:picLocks noGrp="1" noChangeAspect="1"/>
          </p:cNvPicPr>
          <p:nvPr>
            <p:ph idx="1"/>
          </p:nvPr>
        </p:nvPicPr>
        <p:blipFill>
          <a:blip r:embed="rId2"/>
          <a:stretch>
            <a:fillRect/>
          </a:stretch>
        </p:blipFill>
        <p:spPr>
          <a:xfrm>
            <a:off x="1864247" y="1825625"/>
            <a:ext cx="8463506" cy="4351338"/>
          </a:xfrm>
        </p:spPr>
      </p:pic>
    </p:spTree>
    <p:extLst>
      <p:ext uri="{BB962C8B-B14F-4D97-AF65-F5344CB8AC3E}">
        <p14:creationId xmlns:p14="http://schemas.microsoft.com/office/powerpoint/2010/main" val="2338994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E6275-52D3-78A7-19A8-2DD9B9894BF0}"/>
              </a:ext>
            </a:extLst>
          </p:cNvPr>
          <p:cNvSpPr>
            <a:spLocks noGrp="1"/>
          </p:cNvSpPr>
          <p:nvPr>
            <p:ph type="title"/>
          </p:nvPr>
        </p:nvSpPr>
        <p:spPr/>
        <p:txBody>
          <a:bodyPr/>
          <a:lstStyle/>
          <a:p>
            <a:r>
              <a:rPr lang="en-US" dirty="0"/>
              <a:t>Direct Access table</a:t>
            </a:r>
          </a:p>
        </p:txBody>
      </p:sp>
      <p:pic>
        <p:nvPicPr>
          <p:cNvPr id="5" name="Content Placeholder 4">
            <a:extLst>
              <a:ext uri="{FF2B5EF4-FFF2-40B4-BE49-F238E27FC236}">
                <a16:creationId xmlns:a16="http://schemas.microsoft.com/office/drawing/2014/main" id="{A6AF75D4-AC02-76A3-D067-5B9095E81F02}"/>
              </a:ext>
            </a:extLst>
          </p:cNvPr>
          <p:cNvPicPr>
            <a:picLocks noGrp="1" noChangeAspect="1"/>
          </p:cNvPicPr>
          <p:nvPr>
            <p:ph idx="1"/>
          </p:nvPr>
        </p:nvPicPr>
        <p:blipFill>
          <a:blip r:embed="rId3"/>
          <a:stretch>
            <a:fillRect/>
          </a:stretch>
        </p:blipFill>
        <p:spPr>
          <a:xfrm>
            <a:off x="1732681" y="1825625"/>
            <a:ext cx="8726637" cy="4351338"/>
          </a:xfrm>
        </p:spPr>
      </p:pic>
    </p:spTree>
    <p:extLst>
      <p:ext uri="{BB962C8B-B14F-4D97-AF65-F5344CB8AC3E}">
        <p14:creationId xmlns:p14="http://schemas.microsoft.com/office/powerpoint/2010/main" val="3803535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3C581-EE7D-90C0-7A09-0EF39487C16D}"/>
              </a:ext>
            </a:extLst>
          </p:cNvPr>
          <p:cNvSpPr>
            <a:spLocks noGrp="1"/>
          </p:cNvSpPr>
          <p:nvPr>
            <p:ph type="title"/>
          </p:nvPr>
        </p:nvSpPr>
        <p:spPr/>
        <p:txBody>
          <a:bodyPr/>
          <a:lstStyle/>
          <a:p>
            <a:r>
              <a:rPr lang="en-US" dirty="0"/>
              <a:t>Direct Access table</a:t>
            </a:r>
          </a:p>
        </p:txBody>
      </p:sp>
      <p:pic>
        <p:nvPicPr>
          <p:cNvPr id="5" name="Content Placeholder 4">
            <a:extLst>
              <a:ext uri="{FF2B5EF4-FFF2-40B4-BE49-F238E27FC236}">
                <a16:creationId xmlns:a16="http://schemas.microsoft.com/office/drawing/2014/main" id="{2B068675-465A-F327-97F3-5A99134D80E0}"/>
              </a:ext>
            </a:extLst>
          </p:cNvPr>
          <p:cNvPicPr>
            <a:picLocks noGrp="1" noChangeAspect="1"/>
          </p:cNvPicPr>
          <p:nvPr>
            <p:ph idx="1"/>
          </p:nvPr>
        </p:nvPicPr>
        <p:blipFill>
          <a:blip r:embed="rId3"/>
          <a:stretch>
            <a:fillRect/>
          </a:stretch>
        </p:blipFill>
        <p:spPr>
          <a:xfrm>
            <a:off x="1521107" y="1825625"/>
            <a:ext cx="9149785" cy="4351338"/>
          </a:xfrm>
        </p:spPr>
      </p:pic>
    </p:spTree>
    <p:extLst>
      <p:ext uri="{BB962C8B-B14F-4D97-AF65-F5344CB8AC3E}">
        <p14:creationId xmlns:p14="http://schemas.microsoft.com/office/powerpoint/2010/main" val="3874266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2FDBA-C732-D857-05AA-67F7D1EE8DC4}"/>
              </a:ext>
            </a:extLst>
          </p:cNvPr>
          <p:cNvSpPr>
            <a:spLocks noGrp="1"/>
          </p:cNvSpPr>
          <p:nvPr>
            <p:ph type="title"/>
          </p:nvPr>
        </p:nvSpPr>
        <p:spPr/>
        <p:txBody>
          <a:bodyPr/>
          <a:lstStyle/>
          <a:p>
            <a:r>
              <a:rPr lang="en-US" dirty="0"/>
              <a:t>Hash function (module)</a:t>
            </a:r>
          </a:p>
        </p:txBody>
      </p:sp>
      <p:pic>
        <p:nvPicPr>
          <p:cNvPr id="5" name="Content Placeholder 4">
            <a:extLst>
              <a:ext uri="{FF2B5EF4-FFF2-40B4-BE49-F238E27FC236}">
                <a16:creationId xmlns:a16="http://schemas.microsoft.com/office/drawing/2014/main" id="{DC5C58AA-9FAE-03C5-4001-9A269EF1EBE5}"/>
              </a:ext>
            </a:extLst>
          </p:cNvPr>
          <p:cNvPicPr>
            <a:picLocks noGrp="1" noChangeAspect="1"/>
          </p:cNvPicPr>
          <p:nvPr>
            <p:ph idx="1"/>
          </p:nvPr>
        </p:nvPicPr>
        <p:blipFill>
          <a:blip r:embed="rId2"/>
          <a:stretch>
            <a:fillRect/>
          </a:stretch>
        </p:blipFill>
        <p:spPr>
          <a:xfrm>
            <a:off x="1642036" y="1825625"/>
            <a:ext cx="8907927" cy="4351338"/>
          </a:xfrm>
        </p:spPr>
      </p:pic>
    </p:spTree>
    <p:extLst>
      <p:ext uri="{BB962C8B-B14F-4D97-AF65-F5344CB8AC3E}">
        <p14:creationId xmlns:p14="http://schemas.microsoft.com/office/powerpoint/2010/main" val="744820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AA660-E988-1356-AE77-0A99A0A07DBE}"/>
              </a:ext>
            </a:extLst>
          </p:cNvPr>
          <p:cNvSpPr>
            <a:spLocks noGrp="1"/>
          </p:cNvSpPr>
          <p:nvPr>
            <p:ph type="title"/>
          </p:nvPr>
        </p:nvSpPr>
        <p:spPr/>
        <p:txBody>
          <a:bodyPr/>
          <a:lstStyle/>
          <a:p>
            <a:r>
              <a:rPr lang="en-US" dirty="0"/>
              <a:t>Hash function (module)</a:t>
            </a:r>
          </a:p>
        </p:txBody>
      </p:sp>
      <p:pic>
        <p:nvPicPr>
          <p:cNvPr id="5" name="Content Placeholder 4">
            <a:extLst>
              <a:ext uri="{FF2B5EF4-FFF2-40B4-BE49-F238E27FC236}">
                <a16:creationId xmlns:a16="http://schemas.microsoft.com/office/drawing/2014/main" id="{59081F15-D18A-B0FF-E96D-F39FD2B84C0D}"/>
              </a:ext>
            </a:extLst>
          </p:cNvPr>
          <p:cNvPicPr>
            <a:picLocks noGrp="1" noChangeAspect="1"/>
          </p:cNvPicPr>
          <p:nvPr>
            <p:ph idx="1"/>
          </p:nvPr>
        </p:nvPicPr>
        <p:blipFill>
          <a:blip r:embed="rId2"/>
          <a:stretch>
            <a:fillRect/>
          </a:stretch>
        </p:blipFill>
        <p:spPr>
          <a:xfrm>
            <a:off x="1896277" y="1825625"/>
            <a:ext cx="8399446" cy="4351338"/>
          </a:xfrm>
        </p:spPr>
      </p:pic>
    </p:spTree>
    <p:extLst>
      <p:ext uri="{BB962C8B-B14F-4D97-AF65-F5344CB8AC3E}">
        <p14:creationId xmlns:p14="http://schemas.microsoft.com/office/powerpoint/2010/main" val="2820765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8DCAF-2D52-2FE9-E74C-2CD61A716FFA}"/>
              </a:ext>
            </a:extLst>
          </p:cNvPr>
          <p:cNvSpPr>
            <a:spLocks noGrp="1"/>
          </p:cNvSpPr>
          <p:nvPr>
            <p:ph type="title"/>
          </p:nvPr>
        </p:nvSpPr>
        <p:spPr/>
        <p:txBody>
          <a:bodyPr/>
          <a:lstStyle/>
          <a:p>
            <a:r>
              <a:rPr lang="en-US" dirty="0"/>
              <a:t>Collision</a:t>
            </a:r>
          </a:p>
        </p:txBody>
      </p:sp>
      <p:pic>
        <p:nvPicPr>
          <p:cNvPr id="5" name="Content Placeholder 4">
            <a:extLst>
              <a:ext uri="{FF2B5EF4-FFF2-40B4-BE49-F238E27FC236}">
                <a16:creationId xmlns:a16="http://schemas.microsoft.com/office/drawing/2014/main" id="{791B3505-4A5D-988D-5B4A-6FD33136992F}"/>
              </a:ext>
            </a:extLst>
          </p:cNvPr>
          <p:cNvPicPr>
            <a:picLocks noGrp="1" noChangeAspect="1"/>
          </p:cNvPicPr>
          <p:nvPr>
            <p:ph idx="1"/>
          </p:nvPr>
        </p:nvPicPr>
        <p:blipFill>
          <a:blip r:embed="rId2"/>
          <a:stretch>
            <a:fillRect/>
          </a:stretch>
        </p:blipFill>
        <p:spPr>
          <a:xfrm>
            <a:off x="2978289" y="1825625"/>
            <a:ext cx="6235422" cy="4351338"/>
          </a:xfrm>
        </p:spPr>
      </p:pic>
    </p:spTree>
    <p:extLst>
      <p:ext uri="{BB962C8B-B14F-4D97-AF65-F5344CB8AC3E}">
        <p14:creationId xmlns:p14="http://schemas.microsoft.com/office/powerpoint/2010/main" val="1770077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A7D38-D894-875B-D2E7-A1D0589F76EA}"/>
              </a:ext>
            </a:extLst>
          </p:cNvPr>
          <p:cNvSpPr>
            <a:spLocks noGrp="1"/>
          </p:cNvSpPr>
          <p:nvPr>
            <p:ph type="title"/>
          </p:nvPr>
        </p:nvSpPr>
        <p:spPr/>
        <p:txBody>
          <a:bodyPr/>
          <a:lstStyle/>
          <a:p>
            <a:r>
              <a:rPr lang="en-US" dirty="0"/>
              <a:t>Collision Solution</a:t>
            </a:r>
          </a:p>
        </p:txBody>
      </p:sp>
      <p:pic>
        <p:nvPicPr>
          <p:cNvPr id="5" name="Content Placeholder 4">
            <a:extLst>
              <a:ext uri="{FF2B5EF4-FFF2-40B4-BE49-F238E27FC236}">
                <a16:creationId xmlns:a16="http://schemas.microsoft.com/office/drawing/2014/main" id="{221C4BB3-FBB5-60F0-510C-9F220A8DEF2F}"/>
              </a:ext>
            </a:extLst>
          </p:cNvPr>
          <p:cNvPicPr>
            <a:picLocks noGrp="1" noChangeAspect="1"/>
          </p:cNvPicPr>
          <p:nvPr>
            <p:ph idx="1"/>
          </p:nvPr>
        </p:nvPicPr>
        <p:blipFill>
          <a:blip r:embed="rId2"/>
          <a:stretch>
            <a:fillRect/>
          </a:stretch>
        </p:blipFill>
        <p:spPr>
          <a:xfrm>
            <a:off x="1636280" y="1825625"/>
            <a:ext cx="8919440" cy="4351338"/>
          </a:xfrm>
        </p:spPr>
      </p:pic>
    </p:spTree>
    <p:extLst>
      <p:ext uri="{BB962C8B-B14F-4D97-AF65-F5344CB8AC3E}">
        <p14:creationId xmlns:p14="http://schemas.microsoft.com/office/powerpoint/2010/main" val="861638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410B4-9EA0-7224-71F8-5280F8EC1864}"/>
              </a:ext>
            </a:extLst>
          </p:cNvPr>
          <p:cNvSpPr>
            <a:spLocks noGrp="1"/>
          </p:cNvSpPr>
          <p:nvPr>
            <p:ph type="title"/>
          </p:nvPr>
        </p:nvSpPr>
        <p:spPr/>
        <p:txBody>
          <a:bodyPr/>
          <a:lstStyle/>
          <a:p>
            <a:r>
              <a:rPr lang="en-US" dirty="0"/>
              <a:t>Separate Chaining </a:t>
            </a:r>
          </a:p>
        </p:txBody>
      </p:sp>
      <p:pic>
        <p:nvPicPr>
          <p:cNvPr id="5" name="Content Placeholder 4">
            <a:extLst>
              <a:ext uri="{FF2B5EF4-FFF2-40B4-BE49-F238E27FC236}">
                <a16:creationId xmlns:a16="http://schemas.microsoft.com/office/drawing/2014/main" id="{80AA2931-573B-B09E-F1A3-EFC65370CCCE}"/>
              </a:ext>
            </a:extLst>
          </p:cNvPr>
          <p:cNvPicPr>
            <a:picLocks noGrp="1" noChangeAspect="1"/>
          </p:cNvPicPr>
          <p:nvPr>
            <p:ph idx="1"/>
          </p:nvPr>
        </p:nvPicPr>
        <p:blipFill>
          <a:blip r:embed="rId2"/>
          <a:stretch>
            <a:fillRect/>
          </a:stretch>
        </p:blipFill>
        <p:spPr>
          <a:xfrm>
            <a:off x="2095576" y="1825625"/>
            <a:ext cx="8000847" cy="4351338"/>
          </a:xfrm>
        </p:spPr>
      </p:pic>
    </p:spTree>
    <p:extLst>
      <p:ext uri="{BB962C8B-B14F-4D97-AF65-F5344CB8AC3E}">
        <p14:creationId xmlns:p14="http://schemas.microsoft.com/office/powerpoint/2010/main" val="25717045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A92AE-7970-6484-DC1A-961EF117188A}"/>
              </a:ext>
            </a:extLst>
          </p:cNvPr>
          <p:cNvSpPr>
            <a:spLocks noGrp="1"/>
          </p:cNvSpPr>
          <p:nvPr>
            <p:ph type="title"/>
          </p:nvPr>
        </p:nvSpPr>
        <p:spPr/>
        <p:txBody>
          <a:bodyPr/>
          <a:lstStyle/>
          <a:p>
            <a:r>
              <a:rPr lang="en-US" dirty="0"/>
              <a:t>Separate Chaining </a:t>
            </a:r>
          </a:p>
        </p:txBody>
      </p:sp>
      <p:pic>
        <p:nvPicPr>
          <p:cNvPr id="5" name="Content Placeholder 4">
            <a:extLst>
              <a:ext uri="{FF2B5EF4-FFF2-40B4-BE49-F238E27FC236}">
                <a16:creationId xmlns:a16="http://schemas.microsoft.com/office/drawing/2014/main" id="{CF4CE342-9EA7-F2FB-7939-F8C3768D4A12}"/>
              </a:ext>
            </a:extLst>
          </p:cNvPr>
          <p:cNvPicPr>
            <a:picLocks noGrp="1" noChangeAspect="1"/>
          </p:cNvPicPr>
          <p:nvPr>
            <p:ph idx="1"/>
          </p:nvPr>
        </p:nvPicPr>
        <p:blipFill>
          <a:blip r:embed="rId2"/>
          <a:stretch>
            <a:fillRect/>
          </a:stretch>
        </p:blipFill>
        <p:spPr>
          <a:xfrm>
            <a:off x="2018635" y="1825625"/>
            <a:ext cx="8154729" cy="4351338"/>
          </a:xfrm>
        </p:spPr>
      </p:pic>
    </p:spTree>
    <p:extLst>
      <p:ext uri="{BB962C8B-B14F-4D97-AF65-F5344CB8AC3E}">
        <p14:creationId xmlns:p14="http://schemas.microsoft.com/office/powerpoint/2010/main" val="3706133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3CC13-0D13-2B41-7DB0-EAA17DCE88B3}"/>
              </a:ext>
            </a:extLst>
          </p:cNvPr>
          <p:cNvSpPr>
            <a:spLocks noGrp="1"/>
          </p:cNvSpPr>
          <p:nvPr>
            <p:ph type="title"/>
          </p:nvPr>
        </p:nvSpPr>
        <p:spPr/>
        <p:txBody>
          <a:bodyPr/>
          <a:lstStyle/>
          <a:p>
            <a:r>
              <a:rPr lang="en-US" dirty="0"/>
              <a:t>Separate Chaining </a:t>
            </a:r>
          </a:p>
        </p:txBody>
      </p:sp>
      <p:pic>
        <p:nvPicPr>
          <p:cNvPr id="5" name="Content Placeholder 4">
            <a:extLst>
              <a:ext uri="{FF2B5EF4-FFF2-40B4-BE49-F238E27FC236}">
                <a16:creationId xmlns:a16="http://schemas.microsoft.com/office/drawing/2014/main" id="{A4BCB49C-DC9C-92DC-6044-A9AB9E080413}"/>
              </a:ext>
            </a:extLst>
          </p:cNvPr>
          <p:cNvPicPr>
            <a:picLocks noGrp="1" noChangeAspect="1"/>
          </p:cNvPicPr>
          <p:nvPr>
            <p:ph idx="1"/>
          </p:nvPr>
        </p:nvPicPr>
        <p:blipFill>
          <a:blip r:embed="rId2"/>
          <a:stretch>
            <a:fillRect/>
          </a:stretch>
        </p:blipFill>
        <p:spPr>
          <a:xfrm>
            <a:off x="1790686" y="1825625"/>
            <a:ext cx="8610628" cy="4351338"/>
          </a:xfrm>
        </p:spPr>
      </p:pic>
    </p:spTree>
    <p:extLst>
      <p:ext uri="{BB962C8B-B14F-4D97-AF65-F5344CB8AC3E}">
        <p14:creationId xmlns:p14="http://schemas.microsoft.com/office/powerpoint/2010/main" val="4283904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2169C-51CA-79A3-CCC5-BE00ED4FF21D}"/>
              </a:ext>
            </a:extLst>
          </p:cNvPr>
          <p:cNvSpPr>
            <a:spLocks noGrp="1"/>
          </p:cNvSpPr>
          <p:nvPr>
            <p:ph type="title"/>
          </p:nvPr>
        </p:nvSpPr>
        <p:spPr/>
        <p:txBody>
          <a:bodyPr/>
          <a:lstStyle/>
          <a:p>
            <a:r>
              <a:rPr lang="en-US" dirty="0"/>
              <a:t>Separate Chaining </a:t>
            </a:r>
          </a:p>
        </p:txBody>
      </p:sp>
      <p:pic>
        <p:nvPicPr>
          <p:cNvPr id="5" name="Content Placeholder 4">
            <a:extLst>
              <a:ext uri="{FF2B5EF4-FFF2-40B4-BE49-F238E27FC236}">
                <a16:creationId xmlns:a16="http://schemas.microsoft.com/office/drawing/2014/main" id="{D5ED72C3-102C-DD6A-29EB-4DB3A86A2BAB}"/>
              </a:ext>
            </a:extLst>
          </p:cNvPr>
          <p:cNvPicPr>
            <a:picLocks noGrp="1" noChangeAspect="1"/>
          </p:cNvPicPr>
          <p:nvPr>
            <p:ph idx="1"/>
          </p:nvPr>
        </p:nvPicPr>
        <p:blipFill>
          <a:blip r:embed="rId3"/>
          <a:stretch>
            <a:fillRect/>
          </a:stretch>
        </p:blipFill>
        <p:spPr>
          <a:xfrm>
            <a:off x="1952931" y="1825625"/>
            <a:ext cx="8286137" cy="4351338"/>
          </a:xfrm>
        </p:spPr>
      </p:pic>
    </p:spTree>
    <p:extLst>
      <p:ext uri="{BB962C8B-B14F-4D97-AF65-F5344CB8AC3E}">
        <p14:creationId xmlns:p14="http://schemas.microsoft.com/office/powerpoint/2010/main" val="3415580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B1944-620F-B8EA-09F0-193FC3C49580}"/>
              </a:ext>
            </a:extLst>
          </p:cNvPr>
          <p:cNvSpPr>
            <a:spLocks noGrp="1"/>
          </p:cNvSpPr>
          <p:nvPr>
            <p:ph type="title"/>
          </p:nvPr>
        </p:nvSpPr>
        <p:spPr/>
        <p:txBody>
          <a:bodyPr/>
          <a:lstStyle/>
          <a:p>
            <a:r>
              <a:rPr lang="en-US" dirty="0"/>
              <a:t>Open Addressing</a:t>
            </a:r>
          </a:p>
        </p:txBody>
      </p:sp>
      <p:pic>
        <p:nvPicPr>
          <p:cNvPr id="5" name="Content Placeholder 4">
            <a:extLst>
              <a:ext uri="{FF2B5EF4-FFF2-40B4-BE49-F238E27FC236}">
                <a16:creationId xmlns:a16="http://schemas.microsoft.com/office/drawing/2014/main" id="{2D1A4702-BD89-7FC7-D6C2-9830A0AD4F58}"/>
              </a:ext>
            </a:extLst>
          </p:cNvPr>
          <p:cNvPicPr>
            <a:picLocks noGrp="1" noChangeAspect="1"/>
          </p:cNvPicPr>
          <p:nvPr>
            <p:ph idx="1"/>
          </p:nvPr>
        </p:nvPicPr>
        <p:blipFill>
          <a:blip r:embed="rId2"/>
          <a:stretch>
            <a:fillRect/>
          </a:stretch>
        </p:blipFill>
        <p:spPr>
          <a:xfrm>
            <a:off x="1454573" y="1825625"/>
            <a:ext cx="9282854" cy="4351338"/>
          </a:xfrm>
        </p:spPr>
      </p:pic>
    </p:spTree>
    <p:extLst>
      <p:ext uri="{BB962C8B-B14F-4D97-AF65-F5344CB8AC3E}">
        <p14:creationId xmlns:p14="http://schemas.microsoft.com/office/powerpoint/2010/main" val="160730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C85DD-89DB-5F8C-B4B6-4FF2A8D2847F}"/>
              </a:ext>
            </a:extLst>
          </p:cNvPr>
          <p:cNvSpPr>
            <a:spLocks noGrp="1"/>
          </p:cNvSpPr>
          <p:nvPr>
            <p:ph type="title"/>
          </p:nvPr>
        </p:nvSpPr>
        <p:spPr/>
        <p:txBody>
          <a:bodyPr/>
          <a:lstStyle/>
          <a:p>
            <a:r>
              <a:rPr lang="en-US" dirty="0"/>
              <a:t>Linear Probing</a:t>
            </a:r>
          </a:p>
        </p:txBody>
      </p:sp>
      <p:pic>
        <p:nvPicPr>
          <p:cNvPr id="5" name="Content Placeholder 4">
            <a:extLst>
              <a:ext uri="{FF2B5EF4-FFF2-40B4-BE49-F238E27FC236}">
                <a16:creationId xmlns:a16="http://schemas.microsoft.com/office/drawing/2014/main" id="{3D6A0A27-78D0-104F-DE8E-E31474739AFB}"/>
              </a:ext>
            </a:extLst>
          </p:cNvPr>
          <p:cNvPicPr>
            <a:picLocks noGrp="1" noChangeAspect="1"/>
          </p:cNvPicPr>
          <p:nvPr>
            <p:ph idx="1"/>
          </p:nvPr>
        </p:nvPicPr>
        <p:blipFill>
          <a:blip r:embed="rId2"/>
          <a:stretch>
            <a:fillRect/>
          </a:stretch>
        </p:blipFill>
        <p:spPr>
          <a:xfrm>
            <a:off x="2504419" y="1825625"/>
            <a:ext cx="7183161" cy="4351338"/>
          </a:xfrm>
        </p:spPr>
      </p:pic>
    </p:spTree>
    <p:extLst>
      <p:ext uri="{BB962C8B-B14F-4D97-AF65-F5344CB8AC3E}">
        <p14:creationId xmlns:p14="http://schemas.microsoft.com/office/powerpoint/2010/main" val="1900805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97998-5E67-C1D8-5F1F-A2328B745F45}"/>
              </a:ext>
            </a:extLst>
          </p:cNvPr>
          <p:cNvSpPr>
            <a:spLocks noGrp="1"/>
          </p:cNvSpPr>
          <p:nvPr>
            <p:ph type="title"/>
          </p:nvPr>
        </p:nvSpPr>
        <p:spPr/>
        <p:txBody>
          <a:bodyPr/>
          <a:lstStyle/>
          <a:p>
            <a:r>
              <a:rPr lang="en-US" dirty="0"/>
              <a:t>Linear Probing (Insert)</a:t>
            </a:r>
          </a:p>
        </p:txBody>
      </p:sp>
      <p:pic>
        <p:nvPicPr>
          <p:cNvPr id="5" name="Content Placeholder 4">
            <a:extLst>
              <a:ext uri="{FF2B5EF4-FFF2-40B4-BE49-F238E27FC236}">
                <a16:creationId xmlns:a16="http://schemas.microsoft.com/office/drawing/2014/main" id="{3DDAE94E-FB3F-723B-7634-1B518A281D3C}"/>
              </a:ext>
            </a:extLst>
          </p:cNvPr>
          <p:cNvPicPr>
            <a:picLocks noGrp="1" noChangeAspect="1"/>
          </p:cNvPicPr>
          <p:nvPr>
            <p:ph idx="1"/>
          </p:nvPr>
        </p:nvPicPr>
        <p:blipFill>
          <a:blip r:embed="rId2"/>
          <a:stretch>
            <a:fillRect/>
          </a:stretch>
        </p:blipFill>
        <p:spPr>
          <a:xfrm>
            <a:off x="2354866" y="1825625"/>
            <a:ext cx="7482267" cy="4351338"/>
          </a:xfrm>
        </p:spPr>
      </p:pic>
    </p:spTree>
    <p:extLst>
      <p:ext uri="{BB962C8B-B14F-4D97-AF65-F5344CB8AC3E}">
        <p14:creationId xmlns:p14="http://schemas.microsoft.com/office/powerpoint/2010/main" val="1703106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6BB8C-0AE2-81D6-32A4-9EE2CE7A19E6}"/>
              </a:ext>
            </a:extLst>
          </p:cNvPr>
          <p:cNvSpPr>
            <a:spLocks noGrp="1"/>
          </p:cNvSpPr>
          <p:nvPr>
            <p:ph type="title"/>
          </p:nvPr>
        </p:nvSpPr>
        <p:spPr/>
        <p:txBody>
          <a:bodyPr/>
          <a:lstStyle/>
          <a:p>
            <a:r>
              <a:rPr lang="en-US" dirty="0"/>
              <a:t>Linear Probing</a:t>
            </a:r>
          </a:p>
        </p:txBody>
      </p:sp>
      <p:pic>
        <p:nvPicPr>
          <p:cNvPr id="5" name="Content Placeholder 4">
            <a:extLst>
              <a:ext uri="{FF2B5EF4-FFF2-40B4-BE49-F238E27FC236}">
                <a16:creationId xmlns:a16="http://schemas.microsoft.com/office/drawing/2014/main" id="{AB213752-1E47-34AD-DC4C-DC85ED1DC059}"/>
              </a:ext>
            </a:extLst>
          </p:cNvPr>
          <p:cNvPicPr>
            <a:picLocks noGrp="1" noChangeAspect="1"/>
          </p:cNvPicPr>
          <p:nvPr>
            <p:ph idx="1"/>
          </p:nvPr>
        </p:nvPicPr>
        <p:blipFill>
          <a:blip r:embed="rId2"/>
          <a:stretch>
            <a:fillRect/>
          </a:stretch>
        </p:blipFill>
        <p:spPr>
          <a:xfrm>
            <a:off x="2256374" y="1825625"/>
            <a:ext cx="7679252" cy="4351338"/>
          </a:xfrm>
        </p:spPr>
      </p:pic>
    </p:spTree>
    <p:extLst>
      <p:ext uri="{BB962C8B-B14F-4D97-AF65-F5344CB8AC3E}">
        <p14:creationId xmlns:p14="http://schemas.microsoft.com/office/powerpoint/2010/main" val="1893906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96BFC-68C7-1C4B-EADC-5F22720EFBCC}"/>
              </a:ext>
            </a:extLst>
          </p:cNvPr>
          <p:cNvSpPr>
            <a:spLocks noGrp="1"/>
          </p:cNvSpPr>
          <p:nvPr>
            <p:ph type="title"/>
          </p:nvPr>
        </p:nvSpPr>
        <p:spPr/>
        <p:txBody>
          <a:bodyPr/>
          <a:lstStyle/>
          <a:p>
            <a:r>
              <a:rPr lang="en-US" dirty="0"/>
              <a:t>Linear Probing</a:t>
            </a:r>
          </a:p>
        </p:txBody>
      </p:sp>
      <p:pic>
        <p:nvPicPr>
          <p:cNvPr id="11" name="Content Placeholder 10">
            <a:extLst>
              <a:ext uri="{FF2B5EF4-FFF2-40B4-BE49-F238E27FC236}">
                <a16:creationId xmlns:a16="http://schemas.microsoft.com/office/drawing/2014/main" id="{81C6BD37-779B-4E88-68CD-DC548BAC9EBF}"/>
              </a:ext>
            </a:extLst>
          </p:cNvPr>
          <p:cNvPicPr>
            <a:picLocks noGrp="1" noChangeAspect="1"/>
          </p:cNvPicPr>
          <p:nvPr>
            <p:ph idx="1"/>
          </p:nvPr>
        </p:nvPicPr>
        <p:blipFill>
          <a:blip r:embed="rId2"/>
          <a:stretch>
            <a:fillRect/>
          </a:stretch>
        </p:blipFill>
        <p:spPr>
          <a:xfrm>
            <a:off x="2148614" y="1825625"/>
            <a:ext cx="7894772" cy="4351338"/>
          </a:xfrm>
        </p:spPr>
      </p:pic>
    </p:spTree>
    <p:extLst>
      <p:ext uri="{BB962C8B-B14F-4D97-AF65-F5344CB8AC3E}">
        <p14:creationId xmlns:p14="http://schemas.microsoft.com/office/powerpoint/2010/main" val="7649283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BC749-9BE5-066E-649D-449C23742642}"/>
              </a:ext>
            </a:extLst>
          </p:cNvPr>
          <p:cNvSpPr>
            <a:spLocks noGrp="1"/>
          </p:cNvSpPr>
          <p:nvPr>
            <p:ph type="title"/>
          </p:nvPr>
        </p:nvSpPr>
        <p:spPr/>
        <p:txBody>
          <a:bodyPr/>
          <a:lstStyle/>
          <a:p>
            <a:r>
              <a:rPr lang="en-US" dirty="0"/>
              <a:t>Linear Probing</a:t>
            </a:r>
          </a:p>
        </p:txBody>
      </p:sp>
      <p:pic>
        <p:nvPicPr>
          <p:cNvPr id="5" name="Content Placeholder 4">
            <a:extLst>
              <a:ext uri="{FF2B5EF4-FFF2-40B4-BE49-F238E27FC236}">
                <a16:creationId xmlns:a16="http://schemas.microsoft.com/office/drawing/2014/main" id="{5E50A378-B04F-3E43-0B44-234988BF2BF8}"/>
              </a:ext>
            </a:extLst>
          </p:cNvPr>
          <p:cNvPicPr>
            <a:picLocks noGrp="1" noChangeAspect="1"/>
          </p:cNvPicPr>
          <p:nvPr>
            <p:ph idx="1"/>
          </p:nvPr>
        </p:nvPicPr>
        <p:blipFill>
          <a:blip r:embed="rId2"/>
          <a:stretch>
            <a:fillRect/>
          </a:stretch>
        </p:blipFill>
        <p:spPr>
          <a:xfrm>
            <a:off x="2128391" y="1825625"/>
            <a:ext cx="7935218" cy="4351338"/>
          </a:xfrm>
        </p:spPr>
      </p:pic>
    </p:spTree>
    <p:extLst>
      <p:ext uri="{BB962C8B-B14F-4D97-AF65-F5344CB8AC3E}">
        <p14:creationId xmlns:p14="http://schemas.microsoft.com/office/powerpoint/2010/main" val="263518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1D851-E729-AF3F-655D-83399AC10111}"/>
              </a:ext>
            </a:extLst>
          </p:cNvPr>
          <p:cNvSpPr>
            <a:spLocks noGrp="1"/>
          </p:cNvSpPr>
          <p:nvPr>
            <p:ph type="title"/>
          </p:nvPr>
        </p:nvSpPr>
        <p:spPr/>
        <p:txBody>
          <a:bodyPr/>
          <a:lstStyle/>
          <a:p>
            <a:r>
              <a:rPr lang="en-US" dirty="0"/>
              <a:t>Linear Probing (Searching)</a:t>
            </a:r>
          </a:p>
        </p:txBody>
      </p:sp>
      <p:pic>
        <p:nvPicPr>
          <p:cNvPr id="5" name="Content Placeholder 4">
            <a:extLst>
              <a:ext uri="{FF2B5EF4-FFF2-40B4-BE49-F238E27FC236}">
                <a16:creationId xmlns:a16="http://schemas.microsoft.com/office/drawing/2014/main" id="{399EA7B2-498E-AD5F-3E09-891045AAD3A7}"/>
              </a:ext>
            </a:extLst>
          </p:cNvPr>
          <p:cNvPicPr>
            <a:picLocks noGrp="1" noChangeAspect="1"/>
          </p:cNvPicPr>
          <p:nvPr>
            <p:ph idx="1"/>
          </p:nvPr>
        </p:nvPicPr>
        <p:blipFill>
          <a:blip r:embed="rId3"/>
          <a:stretch>
            <a:fillRect/>
          </a:stretch>
        </p:blipFill>
        <p:spPr>
          <a:xfrm>
            <a:off x="1263366" y="1792171"/>
            <a:ext cx="8594750" cy="4351338"/>
          </a:xfrm>
        </p:spPr>
      </p:pic>
    </p:spTree>
    <p:extLst>
      <p:ext uri="{BB962C8B-B14F-4D97-AF65-F5344CB8AC3E}">
        <p14:creationId xmlns:p14="http://schemas.microsoft.com/office/powerpoint/2010/main" val="4195656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EA514-EB17-6462-43CC-74A0F929DEF6}"/>
              </a:ext>
            </a:extLst>
          </p:cNvPr>
          <p:cNvSpPr>
            <a:spLocks noGrp="1"/>
          </p:cNvSpPr>
          <p:nvPr>
            <p:ph type="title"/>
          </p:nvPr>
        </p:nvSpPr>
        <p:spPr/>
        <p:txBody>
          <a:bodyPr/>
          <a:lstStyle/>
          <a:p>
            <a:r>
              <a:rPr lang="en-US" dirty="0"/>
              <a:t>Linear Probing (Delete)</a:t>
            </a:r>
          </a:p>
        </p:txBody>
      </p:sp>
      <p:pic>
        <p:nvPicPr>
          <p:cNvPr id="5" name="Content Placeholder 4">
            <a:extLst>
              <a:ext uri="{FF2B5EF4-FFF2-40B4-BE49-F238E27FC236}">
                <a16:creationId xmlns:a16="http://schemas.microsoft.com/office/drawing/2014/main" id="{75DC6023-696D-6A25-EACA-F881D1EFA142}"/>
              </a:ext>
            </a:extLst>
          </p:cNvPr>
          <p:cNvPicPr>
            <a:picLocks noGrp="1" noChangeAspect="1"/>
          </p:cNvPicPr>
          <p:nvPr>
            <p:ph idx="1"/>
          </p:nvPr>
        </p:nvPicPr>
        <p:blipFill>
          <a:blip r:embed="rId3"/>
          <a:stretch>
            <a:fillRect/>
          </a:stretch>
        </p:blipFill>
        <p:spPr>
          <a:xfrm>
            <a:off x="2332778" y="1825625"/>
            <a:ext cx="7526443" cy="4351338"/>
          </a:xfrm>
        </p:spPr>
      </p:pic>
    </p:spTree>
    <p:extLst>
      <p:ext uri="{BB962C8B-B14F-4D97-AF65-F5344CB8AC3E}">
        <p14:creationId xmlns:p14="http://schemas.microsoft.com/office/powerpoint/2010/main" val="3827534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235</Words>
  <Application>Microsoft Office PowerPoint</Application>
  <PresentationFormat>Widescreen</PresentationFormat>
  <Paragraphs>48</Paragraphs>
  <Slides>23</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Hash Tables</vt:lpstr>
      <vt:lpstr>Key Terms</vt:lpstr>
      <vt:lpstr>Problem</vt:lpstr>
      <vt:lpstr>Solutions</vt:lpstr>
      <vt:lpstr>Solutions</vt:lpstr>
      <vt:lpstr>Direct Access table</vt:lpstr>
      <vt:lpstr>Direct Access table</vt:lpstr>
      <vt:lpstr>Hash function (module)</vt:lpstr>
      <vt:lpstr>Hash function (module)</vt:lpstr>
      <vt:lpstr>Collision</vt:lpstr>
      <vt:lpstr>Collision Solution</vt:lpstr>
      <vt:lpstr>Separate Chaining </vt:lpstr>
      <vt:lpstr>Separate Chaining </vt:lpstr>
      <vt:lpstr>Separate Chaining </vt:lpstr>
      <vt:lpstr>Separate Chaining </vt:lpstr>
      <vt:lpstr>Open Addressing</vt:lpstr>
      <vt:lpstr>Linear Probing</vt:lpstr>
      <vt:lpstr>Linear Probing (Insert)</vt:lpstr>
      <vt:lpstr>Linear Probing</vt:lpstr>
      <vt:lpstr>Linear Probing</vt:lpstr>
      <vt:lpstr>Linear Probing</vt:lpstr>
      <vt:lpstr>Linear Probing (Searching)</vt:lpstr>
      <vt:lpstr>Linear Probing (Delete)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Adeem Ali Anwar</dc:creator>
  <cp:lastModifiedBy>Adeem Ali Anwar</cp:lastModifiedBy>
  <cp:revision>22</cp:revision>
  <dcterms:created xsi:type="dcterms:W3CDTF">2024-09-23T05:24:36Z</dcterms:created>
  <dcterms:modified xsi:type="dcterms:W3CDTF">2025-05-27T02:52:14Z</dcterms:modified>
</cp:coreProperties>
</file>